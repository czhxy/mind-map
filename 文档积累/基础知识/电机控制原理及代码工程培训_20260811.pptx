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"/>
            <a:ext cx="141732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96112" y="1874520"/>
            <a:ext cx="658368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电机控制原理及</a:t>
            </a: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代码工程培训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914400" y="2542032"/>
            <a:ext cx="731520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电机控制原理 · FOC流程 · 代码框架 · 电机/板卡/MCU移植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14400" y="4480560"/>
            <a:ext cx="6766560" cy="5029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面向：软件 / 嵌入式工程师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讲解方式：PPT 建立地图，现场结合代码工程展开</a:t>
            </a:r>
            <a:endParaRPr lang="en-US" sz="1150" dirty="0"/>
          </a:p>
        </p:txBody>
      </p:sp>
      <p:pic>
        <p:nvPicPr>
          <p:cNvPr id="7" name="Image 2" descr="/mnt/data/motor_media/image2.png"/>
          <p:cNvPicPr>
            <a:picLocks noChangeAspect="1"/>
          </p:cNvPicPr>
          <p:nvPr/>
        </p:nvPicPr>
        <p:blipFill>
          <a:blip r:embed="rId3"/>
          <a:srcRect l="8000" r="-8142"/>
          <a:stretch>
            <a:fillRect/>
          </a:stretch>
        </p:blipFill>
        <p:spPr>
          <a:xfrm>
            <a:off x="8549640" y="1234440"/>
            <a:ext cx="2148840" cy="29260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96112" y="315468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F2F2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060704" y="3246120"/>
            <a:ext cx="356616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LDROBOT · 研发内部培训 ·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培训目标：不是讲完代码，而是建立可复用的工程地图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本次培训的最终目标是让大家能定位、能适配、能验证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31520" y="160020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160020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32688" y="1746504"/>
            <a:ext cx="2340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能读懂控制链路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50976" y="2103120"/>
            <a:ext cx="230428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知道速度指令如何变成 Iq/Vq/PWM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理解快环、慢环、保护各自边界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703320" y="160020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03320" y="160020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04488" y="1746504"/>
            <a:ext cx="2340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能追踪代码数据流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922776" y="2103120"/>
            <a:ext cx="230428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CAN/UART 指令追到 mcc_tick_1k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ADC ISR 追到 SVPWM 输出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675120" y="160020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120" y="160020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76288" y="1746504"/>
            <a:ext cx="2340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能完成三类移植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894576" y="2103120"/>
            <a:ext cx="230428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新电机适配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板卡移植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更换 MCU 移植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46920" y="1600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646920" y="160020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848088" y="1746504"/>
            <a:ext cx="14264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能用数据调试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9866376" y="2103120"/>
            <a:ext cx="138988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录波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74136" y="4594860"/>
            <a:ext cx="164592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5998464" y="4594860"/>
            <a:ext cx="164592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8622792" y="4594860"/>
            <a:ext cx="164592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960120" y="3931920"/>
            <a:ext cx="2368296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69848" y="405993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69848" y="412394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1124712" y="4434840"/>
            <a:ext cx="203911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PPT 建立地图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106424" y="4736592"/>
            <a:ext cx="2075688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先理解原理、流程、分层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3584448" y="3931920"/>
            <a:ext cx="2368296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94176" y="405993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94176" y="412394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749040" y="4434840"/>
            <a:ext cx="203911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打开代码工程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3730752" y="4736592"/>
            <a:ext cx="2075688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沿入口函数现场追踪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6208776" y="3931920"/>
            <a:ext cx="2368296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18504" y="405993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318504" y="412394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6373368" y="4434840"/>
            <a:ext cx="203911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演示调试路径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6355080" y="4736592"/>
            <a:ext cx="2075688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 mcc_dbg / capture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8833104" y="3931920"/>
            <a:ext cx="2368296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942832" y="405993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942832" y="412394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8997696" y="4434840"/>
            <a:ext cx="203911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沉淀迁移清单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8979408" y="4736592"/>
            <a:ext cx="2075688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用于后续项目复用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今天讲什么：从“原理”到“移植”闭环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六个章节，重点是代码运行框架和三类适配流程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49808" y="1572768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50976" y="1837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0976" y="1911096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481328" y="1737360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电机控制原理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81328" y="2075688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理解控制对象：电流、角度、转矩、速度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72200" y="1572768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3FAF7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73368" y="1837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73368" y="1911096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03720" y="1737360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控制流程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903720" y="2075688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一次快环如何执行，四种模式怎么用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49808" y="2962656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50976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50976" y="3300984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481328" y="3127248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代码运行框架和逻辑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81328" y="3465576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工程分层、任务模型、数据流、调试设施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172200" y="2962656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3FAF7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73368" y="3227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73368" y="3300984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903720" y="3127248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新电机适配流程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903720" y="3465576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参数、反馈、偏角、电流环、速度环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49808" y="4352544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0976" y="4617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50976" y="469087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481328" y="4517136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板卡移植流程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1481328" y="4855464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/ ADC / 采样 / 通信 / Flash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172200" y="4352544"/>
            <a:ext cx="5074920" cy="960120"/>
          </a:xfrm>
          <a:prstGeom prst="roundRect">
            <a:avLst>
              <a:gd name="adj" fmla="val 4762"/>
            </a:avLst>
          </a:prstGeom>
          <a:solidFill>
            <a:srgbClr val="F3FAF7"/>
          </a:solidFill>
          <a:ln w="12700">
            <a:solidFill>
              <a:srgbClr val="DFEAE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373368" y="46177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73368" y="469087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903720" y="4517136"/>
            <a:ext cx="310896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更换 MCU 移植流程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903720" y="4855464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HAL+BSP 替换，保护算法层稳定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电机控制原理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先理解控制对象，再看代码会清楚很多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电机控制的核心问题：控制三相电流产生期望转矩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角度对 → 电流环才有意义 → 速度环才有意义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650" dirty="0"/>
          </a:p>
        </p:txBody>
      </p:sp>
      <p:pic>
        <p:nvPicPr>
          <p:cNvPr id="12" name="Image 2" descr="/mnt/data/motor_media/image5.png"/>
          <p:cNvPicPr>
            <a:picLocks noChangeAspect="1"/>
          </p:cNvPicPr>
          <p:nvPr/>
        </p:nvPicPr>
        <p:blipFill>
          <a:blip r:embed="rId3"/>
          <a:srcRect l="16894" r="16894"/>
          <a:stretch>
            <a:fillRect/>
          </a:stretch>
        </p:blipFill>
        <p:spPr>
          <a:xfrm>
            <a:off x="777240" y="1645920"/>
            <a:ext cx="2743200" cy="23317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95621" y="2400300"/>
            <a:ext cx="54864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6697066" y="2400300"/>
            <a:ext cx="54864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8198510" y="2400300"/>
            <a:ext cx="54864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9699955" y="2400300"/>
            <a:ext cx="54864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3794760" y="1874520"/>
            <a:ext cx="1355141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959352" y="2039112"/>
            <a:ext cx="102595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速度指令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41064" y="2496312"/>
            <a:ext cx="1062533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整机 / 上位机目标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5296205" y="1874520"/>
            <a:ext cx="1355141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60797" y="2039112"/>
            <a:ext cx="102595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 PI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42509" y="2496312"/>
            <a:ext cx="1062533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Iq_ref</a:t>
            </a:r>
            <a:endParaRPr lang="en-US" sz="860" dirty="0"/>
          </a:p>
        </p:txBody>
      </p:sp>
      <p:sp>
        <p:nvSpPr>
          <p:cNvPr id="23" name="Shape 18"/>
          <p:cNvSpPr/>
          <p:nvPr/>
        </p:nvSpPr>
        <p:spPr>
          <a:xfrm>
            <a:off x="6797650" y="1874520"/>
            <a:ext cx="1355141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962242" y="2039112"/>
            <a:ext cx="102595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943954" y="2496312"/>
            <a:ext cx="1062533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 + 相电流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8299094" y="1874520"/>
            <a:ext cx="1355141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63686" y="2039112"/>
            <a:ext cx="102595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/ 逆变桥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445398" y="2496312"/>
            <a:ext cx="1062533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 U/V/W</a:t>
            </a:r>
            <a:endParaRPr lang="en-US" sz="860" dirty="0"/>
          </a:p>
        </p:txBody>
      </p:sp>
      <p:sp>
        <p:nvSpPr>
          <p:cNvPr id="29" name="Shape 24"/>
          <p:cNvSpPr/>
          <p:nvPr/>
        </p:nvSpPr>
        <p:spPr>
          <a:xfrm>
            <a:off x="9800539" y="1874520"/>
            <a:ext cx="1355141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965131" y="2039112"/>
            <a:ext cx="102595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电机输出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946843" y="2496312"/>
            <a:ext cx="1062533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转矩 / 转速 / 温升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3886200" y="3429000"/>
            <a:ext cx="2240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886200" y="342900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087368" y="3575304"/>
            <a:ext cx="1837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Iq：转矩方向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087368" y="3931920"/>
            <a:ext cx="18379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转矩主要由 q 轴电流产生，是速度环最终要控制的核心量。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382512" y="3429000"/>
            <a:ext cx="2240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82512" y="342900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583680" y="3575304"/>
            <a:ext cx="1837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Id：磁链方向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583680" y="3931920"/>
            <a:ext cx="18379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常规表贴 PMSM 多数控到 0，高速弱磁时才可能给负 Id。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869680" y="3429000"/>
            <a:ext cx="2240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8869680" y="342900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070848" y="3575304"/>
            <a:ext cx="1837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θe：电角度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9070848" y="3931920"/>
            <a:ext cx="18379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角度错了，电流方向就错；转矩变小、反向，甚至锁死。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硬货 ①：转矩到底由什么产生？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不是“控电压”，核心是把电流投影到正确的转矩方向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508760"/>
            <a:ext cx="3794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508760"/>
            <a:ext cx="73152" cy="114300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655064"/>
            <a:ext cx="33924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PMSM 通用转矩方程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011680"/>
            <a:ext cx="339242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 = 1.5 · p · [ ψf · Iq + (Ld − Lq) · Id · Iq ]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83480" y="1508760"/>
            <a:ext cx="28346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83480" y="1508760"/>
            <a:ext cx="73152" cy="114300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84648" y="1655064"/>
            <a:ext cx="243230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表贴电机 SPMSM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84648" y="2011680"/>
            <a:ext cx="243230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Ld≈Lq ⇒ Te ≈ 1.5 · p · ψf · Iq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所以常规目标是 Id=0，只让 Iq 产转矩。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83880" y="1508760"/>
            <a:ext cx="3063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83880" y="1508760"/>
            <a:ext cx="73152" cy="114300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85048" y="1655064"/>
            <a:ext cx="266090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凸极电机 IPMSM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385048" y="2011680"/>
            <a:ext cx="266090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Ld≠Lq 时，Id 也会参与磁阻转矩；MTPA / 弱磁才需要更复杂标定。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14400" y="3063240"/>
            <a:ext cx="1638605" cy="44805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87552" y="3136392"/>
            <a:ext cx="1492301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553005" y="3063240"/>
            <a:ext cx="4301338" cy="44805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26157" y="3136392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工程含义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54342" y="3063240"/>
            <a:ext cx="4301338" cy="44805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27494" y="3136392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调试时怎么看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14400" y="3511296"/>
            <a:ext cx="1638605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3584448"/>
            <a:ext cx="1492301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Iq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2553005" y="3511296"/>
            <a:ext cx="43013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626157" y="3584448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转矩电流，决定“有多大力”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6854342" y="3511296"/>
            <a:ext cx="43013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27494" y="3584448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爬坡/越障/堵草时首先看 Iq 是否被限住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914400" y="3959352"/>
            <a:ext cx="1638605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87552" y="4032504"/>
            <a:ext cx="1492301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2553005" y="3959352"/>
            <a:ext cx="4301338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626157" y="4032504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磁链方向电流，常规应接近 0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6854342" y="3959352"/>
            <a:ext cx="4301338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27494" y="4032504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 长期偏大，多半是角度/偏角/参数有问题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914400" y="4407408"/>
            <a:ext cx="1638605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87552" y="4480560"/>
            <a:ext cx="1492301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ψf / Ke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2553005" y="4407408"/>
            <a:ext cx="43013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626157" y="4480560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磁钢磁链，对应反电动势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6854342" y="4407408"/>
            <a:ext cx="4301338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927494" y="4480560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高速电压裕量、下坡回灌风险都与它相关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914400" y="4855464"/>
            <a:ext cx="1638605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87552" y="4928616"/>
            <a:ext cx="1492301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极对数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2553005" y="4855464"/>
            <a:ext cx="4301338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626157" y="4928616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机械角到电角的放大倍数</a:t>
            </a:r>
            <a:endParaRPr lang="en-US" sz="910" dirty="0"/>
          </a:p>
        </p:txBody>
      </p:sp>
      <p:sp>
        <p:nvSpPr>
          <p:cNvPr id="52" name="Shape 48"/>
          <p:cNvSpPr/>
          <p:nvPr/>
        </p:nvSpPr>
        <p:spPr>
          <a:xfrm>
            <a:off x="6854342" y="4855464"/>
            <a:ext cx="4301338" cy="44805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927494" y="4928616"/>
            <a:ext cx="4155034" cy="3383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极对数越大，角度误差越敏感</a:t>
            </a:r>
            <a:endParaRPr lang="en-US" sz="910" dirty="0"/>
          </a:p>
        </p:txBody>
      </p:sp>
      <p:sp>
        <p:nvSpPr>
          <p:cNvPr id="54" name="Shape 50"/>
          <p:cNvSpPr/>
          <p:nvPr/>
        </p:nvSpPr>
        <p:spPr>
          <a:xfrm>
            <a:off x="1188720" y="5650992"/>
            <a:ext cx="9646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188720" y="5650992"/>
            <a:ext cx="73152" cy="50292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389936" y="5774388"/>
            <a:ext cx="92445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讲解抓手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2306669" y="5774412"/>
            <a:ext cx="4994053" cy="38023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速度环不是直接“控速度”，而是在调转矩。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硬货 ②：为什么高速时“电流打不进去”？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dq 电压方程揭示了电压边界、基速、弱磁与母线过压的来源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60020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78408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81912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85416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34640" y="1682496"/>
            <a:ext cx="31546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dq 电压方程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088136" y="2011680"/>
            <a:ext cx="4818888" cy="12070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Vd = R·Id + Ld·dId/dt − ωe·Lq·Iq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Vq = R·Iq + Lq·dIq/dt + ωe·Ld·Id + ωe·ψf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电压限制：sqrt(Vd² + Vq²) ≤ Vbus / √3 × 调制比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6400800" y="1600200"/>
            <a:ext cx="2240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0" y="1600200"/>
            <a:ext cx="73152" cy="173736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01968" y="1746504"/>
            <a:ext cx="1837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低速大扭矩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601968" y="2103120"/>
            <a:ext cx="1837944" cy="11338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ωe 小，反电动势项小；主要瓶颈通常是电流、铜损和温升。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915400" y="1600200"/>
            <a:ext cx="2240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915400" y="1600200"/>
            <a:ext cx="73152" cy="173736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116568" y="1746504"/>
            <a:ext cx="1837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高速运行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116568" y="2103120"/>
            <a:ext cx="1837944" cy="11338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ωe·ψf 变大，占掉 Vq 电压裕量；母线不够时电流环会饱和。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1143000" y="3977640"/>
            <a:ext cx="1691640" cy="169164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6E54B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43000" y="4828032"/>
            <a:ext cx="1691640" cy="0"/>
          </a:xfrm>
          <a:prstGeom prst="line">
            <a:avLst/>
          </a:prstGeom>
          <a:noFill/>
          <a:ln w="8890">
            <a:solidFill>
              <a:srgbClr val="D5DEE2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1993392" y="3977640"/>
            <a:ext cx="0" cy="1691640"/>
          </a:xfrm>
          <a:prstGeom prst="line">
            <a:avLst/>
          </a:prstGeom>
          <a:noFill/>
          <a:ln w="8890">
            <a:solidFill>
              <a:srgbClr val="D5DEE2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1993392" y="4233672"/>
            <a:ext cx="676656" cy="594360"/>
          </a:xfrm>
          <a:prstGeom prst="line">
            <a:avLst/>
          </a:prstGeom>
          <a:noFill/>
          <a:ln w="19050">
            <a:solidFill>
              <a:srgbClr val="1D6B57"/>
            </a:solidFill>
            <a:prstDash val="solid"/>
            <a:tailEnd type="triangle"/>
          </a:ln>
        </p:spPr>
      </p:sp>
      <p:sp>
        <p:nvSpPr>
          <p:cNvPr id="30" name="Text 26"/>
          <p:cNvSpPr/>
          <p:nvPr/>
        </p:nvSpPr>
        <p:spPr>
          <a:xfrm>
            <a:off x="2944368" y="4709160"/>
            <a:ext cx="2743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828800" y="3794760"/>
            <a:ext cx="32004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1444752" y="5715000"/>
            <a:ext cx="11430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电压圆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3657600" y="3886200"/>
            <a:ext cx="2086661" cy="46863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30752" y="3959352"/>
            <a:ext cx="1940357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现象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744261" y="3886200"/>
            <a:ext cx="5365699" cy="46863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817413" y="3959352"/>
            <a:ext cx="5219395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优先判断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657600" y="4354830"/>
            <a:ext cx="2086661" cy="4686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730752" y="4427982"/>
            <a:ext cx="1940357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 长期触顶</a:t>
            </a:r>
            <a:endParaRPr lang="en-US" sz="910" dirty="0"/>
          </a:p>
        </p:txBody>
      </p:sp>
      <p:sp>
        <p:nvSpPr>
          <p:cNvPr id="39" name="Shape 35"/>
          <p:cNvSpPr/>
          <p:nvPr/>
        </p:nvSpPr>
        <p:spPr>
          <a:xfrm>
            <a:off x="5744261" y="4354830"/>
            <a:ext cx="5365699" cy="4686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817413" y="4427982"/>
            <a:ext cx="5219395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高速电压不够 / Ke 偏大 / 母线电压低 / 调制比限制</a:t>
            </a:r>
            <a:endParaRPr lang="en-US" sz="910" dirty="0"/>
          </a:p>
        </p:txBody>
      </p:sp>
      <p:sp>
        <p:nvSpPr>
          <p:cNvPr id="41" name="Shape 37"/>
          <p:cNvSpPr/>
          <p:nvPr/>
        </p:nvSpPr>
        <p:spPr>
          <a:xfrm>
            <a:off x="3657600" y="4823460"/>
            <a:ext cx="2086661" cy="46863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730752" y="4896612"/>
            <a:ext cx="1940357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Vd 异常偏大</a:t>
            </a:r>
            <a:endParaRPr lang="en-US" sz="910" dirty="0"/>
          </a:p>
        </p:txBody>
      </p:sp>
      <p:sp>
        <p:nvSpPr>
          <p:cNvPr id="43" name="Shape 39"/>
          <p:cNvSpPr/>
          <p:nvPr/>
        </p:nvSpPr>
        <p:spPr>
          <a:xfrm>
            <a:off x="5744261" y="4823460"/>
            <a:ext cx="5365699" cy="46863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817413" y="4896612"/>
            <a:ext cx="5219395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角度偏差、Id 闭环压力、交叉耦合或参数不准</a:t>
            </a:r>
            <a:endParaRPr lang="en-US" sz="910" dirty="0"/>
          </a:p>
        </p:txBody>
      </p:sp>
      <p:sp>
        <p:nvSpPr>
          <p:cNvPr id="45" name="Shape 41"/>
          <p:cNvSpPr/>
          <p:nvPr/>
        </p:nvSpPr>
        <p:spPr>
          <a:xfrm>
            <a:off x="3657600" y="5292090"/>
            <a:ext cx="2086661" cy="4686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730752" y="5365242"/>
            <a:ext cx="1940357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下坡母线升高</a:t>
            </a:r>
            <a:endParaRPr lang="en-US" sz="910" dirty="0"/>
          </a:p>
        </p:txBody>
      </p:sp>
      <p:sp>
        <p:nvSpPr>
          <p:cNvPr id="47" name="Shape 43"/>
          <p:cNvSpPr/>
          <p:nvPr/>
        </p:nvSpPr>
        <p:spPr>
          <a:xfrm>
            <a:off x="5744261" y="5292090"/>
            <a:ext cx="5365699" cy="4686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817413" y="5365242"/>
            <a:ext cx="5219395" cy="3589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电机发电 + 回灌路径不足，需要制动/泄放/限速策略</a:t>
            </a:r>
            <a:endParaRPr lang="en-US" sz="9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三相逆变桥与采样：FOC 的硬件基础链路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本工程快环频率 = PWM 频率 = 10 kHz，ADC 注入组由 PWM 定时器触发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423160" y="3246120"/>
            <a:ext cx="914400" cy="0"/>
          </a:xfrm>
          <a:prstGeom prst="line">
            <a:avLst/>
          </a:prstGeom>
          <a:noFill/>
          <a:ln w="1524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343400" y="3246120"/>
            <a:ext cx="914400" cy="0"/>
          </a:xfrm>
          <a:prstGeom prst="line">
            <a:avLst/>
          </a:prstGeom>
          <a:noFill/>
          <a:ln w="1524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263640" y="3246120"/>
            <a:ext cx="914400" cy="0"/>
          </a:xfrm>
          <a:prstGeom prst="line">
            <a:avLst/>
          </a:prstGeom>
          <a:noFill/>
          <a:ln w="1524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183880" y="3246120"/>
            <a:ext cx="914400" cy="0"/>
          </a:xfrm>
          <a:prstGeom prst="line">
            <a:avLst/>
          </a:prstGeom>
          <a:noFill/>
          <a:ln w="1524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85800" y="246888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2468880"/>
            <a:ext cx="73152" cy="15544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86968" y="2615184"/>
            <a:ext cx="1335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PWM定时器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86968" y="2971800"/>
            <a:ext cx="1335024" cy="9509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中心对齐 / 触发 ADC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06040" y="246888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606040" y="2468880"/>
            <a:ext cx="73152" cy="15544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07208" y="2615184"/>
            <a:ext cx="1335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ADC注入采样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2807208" y="2971800"/>
            <a:ext cx="1335024" cy="9509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避开开关边沿振铃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26280" y="246888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26280" y="2468880"/>
            <a:ext cx="73152" cy="15544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27448" y="2615184"/>
            <a:ext cx="1335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零偏/标度/符号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727448" y="2971800"/>
            <a:ext cx="1335024" cy="9509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ia/ib/ic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46520" y="246888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46520" y="2468880"/>
            <a:ext cx="73152" cy="15544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647688" y="2615184"/>
            <a:ext cx="1335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FOC快环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647688" y="2971800"/>
            <a:ext cx="1335024" cy="9509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Clarke/Park/PI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366760" y="2468880"/>
            <a:ext cx="17373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366760" y="2468880"/>
            <a:ext cx="73152" cy="15544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567928" y="2615184"/>
            <a:ext cx="1335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8567928" y="2971800"/>
            <a:ext cx="1335024" cy="9509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 CCR 输出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68680" y="4526280"/>
            <a:ext cx="1859890" cy="26517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41832" y="4599432"/>
            <a:ext cx="171358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核查项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2728570" y="4526280"/>
            <a:ext cx="8472830" cy="26517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801722" y="4599432"/>
            <a:ext cx="832652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为什么重要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868680" y="4791456"/>
            <a:ext cx="185989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941832" y="4864608"/>
            <a:ext cx="171358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采样相序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2728570" y="4791456"/>
            <a:ext cx="847283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801722" y="4864608"/>
            <a:ext cx="832652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U/V/W 与 ia/ib/ic 错位会导致闭环方向错误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868680" y="5056632"/>
            <a:ext cx="1859890" cy="26517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941832" y="5129784"/>
            <a:ext cx="171358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采样极性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2728570" y="5056632"/>
            <a:ext cx="8472830" cy="26517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801722" y="5129784"/>
            <a:ext cx="832652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电流反馈符号反了，PI 会变成正反馈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868680" y="5321808"/>
            <a:ext cx="185989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832" y="5394960"/>
            <a:ext cx="171358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采样时刻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2728570" y="5321808"/>
            <a:ext cx="8472830" cy="26517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801722" y="5394960"/>
            <a:ext cx="832652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落在振铃区，噪声直接进入电流环</a:t>
            </a:r>
            <a:endParaRPr lang="en-US" sz="910" dirty="0"/>
          </a:p>
        </p:txBody>
      </p:sp>
      <p:sp>
        <p:nvSpPr>
          <p:cNvPr id="52" name="Shape 48"/>
          <p:cNvSpPr/>
          <p:nvPr/>
        </p:nvSpPr>
        <p:spPr>
          <a:xfrm>
            <a:off x="868680" y="5586984"/>
            <a:ext cx="1859890" cy="26517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941832" y="5660136"/>
            <a:ext cx="171358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母线电压</a:t>
            </a:r>
            <a:endParaRPr lang="en-US" sz="910" dirty="0"/>
          </a:p>
        </p:txBody>
      </p:sp>
      <p:sp>
        <p:nvSpPr>
          <p:cNvPr id="54" name="Shape 50"/>
          <p:cNvSpPr/>
          <p:nvPr/>
        </p:nvSpPr>
        <p:spPr>
          <a:xfrm>
            <a:off x="2728570" y="5586984"/>
            <a:ext cx="8472830" cy="26517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801722" y="5660136"/>
            <a:ext cx="8326526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影响归一化电压与最高转速边界</a:t>
            </a:r>
            <a:endParaRPr lang="en-US" sz="9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坐标变换：把三相交流量变成可控的直流量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Clarke / Park / 逆 Park / SVPWM 是代码里最核心的一条数学链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461260" y="2446020"/>
            <a:ext cx="36576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273296" y="2446020"/>
            <a:ext cx="36576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085332" y="2446020"/>
            <a:ext cx="36576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897368" y="2446020"/>
            <a:ext cx="36576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9709404" y="2446020"/>
            <a:ext cx="36576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731520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96112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ia ib ic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77824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三相电流</a:t>
            </a:r>
            <a:endParaRPr lang="en-US" sz="860" dirty="0"/>
          </a:p>
        </p:txBody>
      </p:sp>
      <p:sp>
        <p:nvSpPr>
          <p:cNvPr id="20" name="Shape 16"/>
          <p:cNvSpPr/>
          <p:nvPr/>
        </p:nvSpPr>
        <p:spPr>
          <a:xfrm>
            <a:off x="2543556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08148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Clarke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689860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abc → αβ</a:t>
            </a:r>
            <a:endParaRPr lang="en-US" sz="860" dirty="0"/>
          </a:p>
        </p:txBody>
      </p:sp>
      <p:sp>
        <p:nvSpPr>
          <p:cNvPr id="23" name="Shape 19"/>
          <p:cNvSpPr/>
          <p:nvPr/>
        </p:nvSpPr>
        <p:spPr>
          <a:xfrm>
            <a:off x="4355592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20184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Park(θe)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01896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αβ → dq</a:t>
            </a:r>
            <a:endParaRPr lang="en-US" sz="860" dirty="0"/>
          </a:p>
        </p:txBody>
      </p:sp>
      <p:sp>
        <p:nvSpPr>
          <p:cNvPr id="26" name="Shape 22"/>
          <p:cNvSpPr/>
          <p:nvPr/>
        </p:nvSpPr>
        <p:spPr>
          <a:xfrm>
            <a:off x="6167628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32220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313932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Id/Iq 控制</a:t>
            </a:r>
            <a:endParaRPr lang="en-US" sz="860" dirty="0"/>
          </a:p>
        </p:txBody>
      </p:sp>
      <p:sp>
        <p:nvSpPr>
          <p:cNvPr id="29" name="Shape 25"/>
          <p:cNvSpPr/>
          <p:nvPr/>
        </p:nvSpPr>
        <p:spPr>
          <a:xfrm>
            <a:off x="7979664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144256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InvPark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125968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dq → αβ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9791700" y="1828800"/>
            <a:ext cx="16840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956292" y="1993392"/>
            <a:ext cx="135483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9938004" y="2450592"/>
            <a:ext cx="139141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三相占空比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1097280" y="370332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97280" y="370332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298448" y="384962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工程直觉 ①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1298448" y="4206240"/>
            <a:ext cx="252374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d/q 坐标系跟着转子一起转，因此 Id / Iq 在稳态下近似是直流量，普通 PI 就能控制。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572000" y="370332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572000" y="3703320"/>
            <a:ext cx="73152" cy="12344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773168" y="384962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工程直觉 ②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4773168" y="4206240"/>
            <a:ext cx="252374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变换链只有一个外部输入最容易错：电角度 θe。角度错，后面全部错。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046720" y="3703320"/>
            <a:ext cx="2926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046720" y="3703320"/>
            <a:ext cx="73152" cy="123444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247888" y="384962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读代码时关注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8247888" y="4206240"/>
            <a:ext cx="252374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foc_core_run() 内部是否拿到了正确电流、角度、给定和电压限制。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硬货 ③：角度误差会把 Iq “串”到 Id 上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角度不是辅助量，而是 Park 变换的基准；错一点，转矩与磁链都会错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60020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78408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81912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85416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34640" y="1682496"/>
            <a:ext cx="21031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角度误差近似关系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088136" y="2011680"/>
            <a:ext cx="3767328" cy="8869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假设真实转子角 = θ，代码使用角 = θ + δ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Iq_real ≈ Iq_cmd · cosδ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Id_real ≈ Iq_cmd · sinδ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      ≈ Te_ideal · cosδ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486400" y="1600200"/>
            <a:ext cx="1414577" cy="4038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59552" y="167335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 电角误差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900977" y="1600200"/>
            <a:ext cx="1305763" cy="4038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74129" y="167335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转矩保留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206740" y="1600200"/>
            <a:ext cx="2720340" cy="4038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79892" y="167335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486400" y="2004060"/>
            <a:ext cx="1414577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59552" y="207721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0°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6900977" y="2004060"/>
            <a:ext cx="1305763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74129" y="207721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8206740" y="2004060"/>
            <a:ext cx="2720340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279892" y="207721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最佳状态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5486400" y="2407920"/>
            <a:ext cx="1414577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59552" y="248107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30°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6900977" y="2407920"/>
            <a:ext cx="1305763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74129" y="248107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87%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8206740" y="2407920"/>
            <a:ext cx="2720340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279892" y="248107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扭矩下降，电流偏大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5486400" y="2811780"/>
            <a:ext cx="1414577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559552" y="288493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60°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6900977" y="2811780"/>
            <a:ext cx="1305763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974129" y="288493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8206740" y="2811780"/>
            <a:ext cx="2720340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279892" y="288493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明显没力，温升变差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5486400" y="3215640"/>
            <a:ext cx="1414577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559552" y="328879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90°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6900977" y="3215640"/>
            <a:ext cx="1305763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974129" y="328879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8206740" y="3215640"/>
            <a:ext cx="2720340" cy="4038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279892" y="328879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零转矩锁死，可能不报故障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5486400" y="3619500"/>
            <a:ext cx="1414577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559552" y="3692652"/>
            <a:ext cx="1268273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180°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6900977" y="3619500"/>
            <a:ext cx="1305763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974129" y="3692652"/>
            <a:ext cx="1159459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反向满转矩</a:t>
            </a:r>
            <a:endParaRPr lang="en-US" sz="910" dirty="0"/>
          </a:p>
        </p:txBody>
      </p:sp>
      <p:sp>
        <p:nvSpPr>
          <p:cNvPr id="52" name="Shape 48"/>
          <p:cNvSpPr/>
          <p:nvPr/>
        </p:nvSpPr>
        <p:spPr>
          <a:xfrm>
            <a:off x="8206740" y="3619500"/>
            <a:ext cx="2720340" cy="4038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279892" y="3692652"/>
            <a:ext cx="2574036" cy="2941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方向/相序错误</a:t>
            </a:r>
            <a:endParaRPr lang="en-US" sz="910" dirty="0"/>
          </a:p>
        </p:txBody>
      </p:sp>
      <p:sp>
        <p:nvSpPr>
          <p:cNvPr id="54" name="Shape 50"/>
          <p:cNvSpPr/>
          <p:nvPr/>
        </p:nvSpPr>
        <p:spPr>
          <a:xfrm>
            <a:off x="868680" y="437083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68680" y="4370832"/>
            <a:ext cx="73152" cy="10972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1069848" y="4517136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 Id 能暴露问题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1069848" y="4873752"/>
            <a:ext cx="2752344" cy="4937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表贴电机正常 Id_ref=0。如果运行中 Id 偏大，优先怀疑角度、偏角、相序或采样符号。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4343400" y="437083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343400" y="4370832"/>
            <a:ext cx="73152" cy="10972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544568" y="4517136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为什么偏角要逐台标定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4544568" y="4873752"/>
            <a:ext cx="2752344" cy="4937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极对时 6° 机械误差就是 90° 电角误差，足够让电机从满转矩变成零转矩。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7818120" y="4370832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818120" y="4370832"/>
            <a:ext cx="73152" cy="10972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8019288" y="4517136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现场调试建议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8019288" y="4873752"/>
            <a:ext cx="2752344" cy="4937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开环/低速先确认方向、相序、ENC_DIR/HALL_ORDER，再做安装偏角和闭环 PI。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位置反馈：Hall 与编码器决定低速性能和速度环上限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极对数会放大机械角误差，本项目轮毂电机 15 极对尤其敏感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77240" y="1600200"/>
            <a:ext cx="1041502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" y="1673352"/>
            <a:ext cx="895198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反馈源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18742" y="1600200"/>
            <a:ext cx="1715414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891894" y="1673352"/>
            <a:ext cx="156911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能提供什么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534156" y="1600200"/>
            <a:ext cx="1531620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7308" y="1673352"/>
            <a:ext cx="1385316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65776" y="1600200"/>
            <a:ext cx="1837944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38928" y="1673352"/>
            <a:ext cx="16916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7240" y="2194560"/>
            <a:ext cx="1041502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0392" y="2267712"/>
            <a:ext cx="895198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Hall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1818742" y="2194560"/>
            <a:ext cx="171541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891894" y="2267712"/>
            <a:ext cx="156911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 60° 电角扇区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3534156" y="2194560"/>
            <a:ext cx="15316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07308" y="2267712"/>
            <a:ext cx="1385316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便宜、启动可靠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5065776" y="2194560"/>
            <a:ext cx="183794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38928" y="2267712"/>
            <a:ext cx="16916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低速量化明显，角度需外推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777240" y="2788920"/>
            <a:ext cx="1041502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0392" y="2862072"/>
            <a:ext cx="895198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1818742" y="2788920"/>
            <a:ext cx="1715414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891894" y="2862072"/>
            <a:ext cx="156911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高分辨率绝对角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3534156" y="2788920"/>
            <a:ext cx="1531620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607308" y="2862072"/>
            <a:ext cx="1385316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低速性能好、可诊断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5065776" y="2788920"/>
            <a:ext cx="1837944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38928" y="2862072"/>
            <a:ext cx="16916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成本、防水、线束、安装偏角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77240" y="3383280"/>
            <a:ext cx="1041502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50392" y="3456432"/>
            <a:ext cx="895198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无感估算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1818742" y="3383280"/>
            <a:ext cx="171541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891894" y="3456432"/>
            <a:ext cx="156911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由电压/电流估算角度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3534156" y="3383280"/>
            <a:ext cx="15316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07308" y="3456432"/>
            <a:ext cx="1385316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少传感器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5065776" y="3383280"/>
            <a:ext cx="183794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138928" y="3456432"/>
            <a:ext cx="16916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低速/堵转/启动困难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7315200" y="160020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15200" y="1600200"/>
            <a:ext cx="73152" cy="114300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516368" y="1746504"/>
            <a:ext cx="3483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极对数放大效应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7516368" y="2103120"/>
            <a:ext cx="348386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电角度 = 机械角 × 极对数。15 极对时，1° 机械角 = 15° 电角度。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315200" y="297180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15200" y="2971800"/>
            <a:ext cx="73152" cy="114300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516368" y="3118104"/>
            <a:ext cx="3483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最容易吃亏的一点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7516368" y="3474720"/>
            <a:ext cx="348386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电角度 ±180° 只对应机械角 ±12°，安装偏角必须逐台标定。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7315200" y="434340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315200" y="4343400"/>
            <a:ext cx="73152" cy="114300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516368" y="4489704"/>
            <a:ext cx="3483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关键判据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7516368" y="4846320"/>
            <a:ext cx="348386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δ=90° 时转矩为 0：会出现吃电流、转不动、无明显故障的锁死。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控制环级联：内环快，外环稳，保护贯穿全链路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内环带宽至少比外环高 5~10 倍，否则调参会互相干扰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843784" y="2468880"/>
            <a:ext cx="13716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864608" y="2468880"/>
            <a:ext cx="13716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885432" y="2468880"/>
            <a:ext cx="13716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906256" y="2468880"/>
            <a:ext cx="13716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005840" y="1828800"/>
            <a:ext cx="17922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70432" y="1993392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位置环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2144" y="2450592"/>
            <a:ext cx="1499616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可选 / 输出 speed_ref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3026664" y="1828800"/>
            <a:ext cx="17922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91256" y="1993392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172968" y="2450592"/>
            <a:ext cx="1499616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kHz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Iq_ref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5047488" y="1828800"/>
            <a:ext cx="17922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2080" y="1993392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193792" y="2450592"/>
            <a:ext cx="1499616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kHz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Vd/Vq</a:t>
            </a:r>
            <a:endParaRPr lang="en-US" sz="860" dirty="0"/>
          </a:p>
        </p:txBody>
      </p:sp>
      <p:sp>
        <p:nvSpPr>
          <p:cNvPr id="25" name="Shape 21"/>
          <p:cNvSpPr/>
          <p:nvPr/>
        </p:nvSpPr>
        <p:spPr>
          <a:xfrm>
            <a:off x="7068312" y="1828800"/>
            <a:ext cx="17922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32904" y="1993392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214616" y="2450592"/>
            <a:ext cx="1499616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 CCR</a:t>
            </a:r>
            <a:endParaRPr lang="en-US" sz="860" dirty="0"/>
          </a:p>
        </p:txBody>
      </p:sp>
      <p:sp>
        <p:nvSpPr>
          <p:cNvPr id="28" name="Shape 24"/>
          <p:cNvSpPr/>
          <p:nvPr/>
        </p:nvSpPr>
        <p:spPr>
          <a:xfrm>
            <a:off x="9089136" y="1828800"/>
            <a:ext cx="1792224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253728" y="1993392"/>
            <a:ext cx="14630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9235440" y="2450592"/>
            <a:ext cx="1499616" cy="5669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转矩 / 速度</a:t>
            </a:r>
            <a:endParaRPr lang="en-US" sz="860" dirty="0"/>
          </a:p>
        </p:txBody>
      </p:sp>
      <p:sp>
        <p:nvSpPr>
          <p:cNvPr id="31" name="Shape 27"/>
          <p:cNvSpPr/>
          <p:nvPr/>
        </p:nvSpPr>
        <p:spPr>
          <a:xfrm>
            <a:off x="960120" y="374904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60120" y="374904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61288" y="389534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1161288" y="4251960"/>
            <a:ext cx="25237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最快，与 PWM 同频，负责快速控制电磁转矩。调试时看 Iq 阶跃、Vq/Vd 是否触顶。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617720" y="374904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17720" y="374904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18888" y="389534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4818888" y="4251960"/>
            <a:ext cx="25237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较慢，负责稳定速度。越障、爬坡、转向的持续转矩来自积分项。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8275320" y="374904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275320" y="374904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476488" y="3895344"/>
            <a:ext cx="2523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保护策略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476488" y="4251960"/>
            <a:ext cx="25237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分散检测、集中处理。过流/过压/过温/堵转/通信丢失要成组核对。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硬货 ④：PWM 频率、电频率与控制带宽的关系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 10 kHz 快环够不够，不能只看机械转速，要换算成电频率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00200"/>
            <a:ext cx="4663440" cy="1691640"/>
          </a:xfrm>
          <a:prstGeom prst="roundRect">
            <a:avLst>
              <a:gd name="adj" fmla="val 3243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2688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36192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39696" y="17007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基本换算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1042416" y="2011680"/>
            <a:ext cx="4224528" cy="11612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电频率 fe = p · n / 60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电周期采样点数 ≈ fsw / fe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例：15 极对轮毂电机，300 rpm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 = 15×300/60 = 75 Hz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 kHz 下每电周期约 133 个采样点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897880" y="1600200"/>
            <a:ext cx="2514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97880" y="1600200"/>
            <a:ext cx="73152" cy="16916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99048" y="1746504"/>
            <a:ext cx="2112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底盘低速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099048" y="2103120"/>
            <a:ext cx="2112264" cy="10881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机械转速低，但极对数高；角度分辨率和速度量化更关键。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732520" y="1600200"/>
            <a:ext cx="2514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732520" y="1600200"/>
            <a:ext cx="73152" cy="16916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933688" y="1746504"/>
            <a:ext cx="2112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刀盘高速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933688" y="2103120"/>
            <a:ext cx="2112264" cy="10881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机械转速高，电频率高；PWM频率、采样延迟和铁损压力更明显。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14400" y="3703320"/>
            <a:ext cx="2232965" cy="384048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87552" y="3776472"/>
            <a:ext cx="208666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147365" y="3703320"/>
            <a:ext cx="7916875" cy="384048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220517" y="3776472"/>
            <a:ext cx="777057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工程含义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14400" y="4087368"/>
            <a:ext cx="223296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4160520"/>
            <a:ext cx="208666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电流环带宽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3147365" y="4087368"/>
            <a:ext cx="79168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20517" y="4160520"/>
            <a:ext cx="777057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通常取 PWM 频率的十分之一量级以内，并受采样延迟/电感/噪声限制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914400" y="4471416"/>
            <a:ext cx="2232965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87552" y="4544568"/>
            <a:ext cx="208666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速度环带宽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3147365" y="4471416"/>
            <a:ext cx="7916875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20517" y="4544568"/>
            <a:ext cx="777057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必须显著低于电流环，且受机械模态、轮胎柔性、反馈量化限制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914400" y="4855464"/>
            <a:ext cx="223296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87552" y="4928616"/>
            <a:ext cx="208666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电频率 fe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3147365" y="4855464"/>
            <a:ext cx="7916875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220517" y="4928616"/>
            <a:ext cx="777057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极对数越高，同机械转速下电角速度越高，角度误差被放大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914400" y="5239512"/>
            <a:ext cx="2232965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87552" y="5312664"/>
            <a:ext cx="208666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CPU 余量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3147365" y="5239512"/>
            <a:ext cx="7916875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220517" y="5312664"/>
            <a:ext cx="7770571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快环计算必须稳定落在一个 PWM 周期内，不能靠平均耗时判断</a:t>
            </a:r>
            <a:endParaRPr lang="en-US" sz="9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控制流程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把一个 PWM 周期里发生的事情拆开看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 FOC 快环的执行顺序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真正的电机控制主循环不在 while，而在 ADC 注入转换完成中断里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788920" y="242316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983480" y="242316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178040" y="242316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9372600" y="242316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731520" y="173736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186537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1248" y="192938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896112" y="2240280"/>
            <a:ext cx="168249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 EOC ISR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77824" y="2542032"/>
            <a:ext cx="171907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mcc_current_isr(id)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926080" y="173736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035808" y="186537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35808" y="192938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90672" y="2240280"/>
            <a:ext cx="168249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读相电流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072384" y="2542032"/>
            <a:ext cx="171907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零偏 / 符号 / 标度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120640" y="173736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30368" y="186537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30368" y="192938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5285232" y="2240280"/>
            <a:ext cx="168249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 update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266944" y="2542032"/>
            <a:ext cx="171907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电角度 / 电角速度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7315200" y="173736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24928" y="186537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24928" y="192938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479792" y="2240280"/>
            <a:ext cx="168249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foc_core_run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7461504" y="2542032"/>
            <a:ext cx="171907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Clarke→Park→PI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9509760" y="1737360"/>
            <a:ext cx="2011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619488" y="186537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619488" y="192938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9674352" y="2240280"/>
            <a:ext cx="168249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9656064" y="2542032"/>
            <a:ext cx="1719072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bsp_pwm_set_voltage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1005840" y="3657600"/>
            <a:ext cx="4754880" cy="1600200"/>
          </a:xfrm>
          <a:prstGeom prst="roundRect">
            <a:avLst>
              <a:gd name="adj" fmla="val 3429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15568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719072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322576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971800" y="3739896"/>
            <a:ext cx="26517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快环入口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1225296" y="4069080"/>
            <a:ext cx="4315968" cy="10698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ADCx_IRQHandler(void) {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mcc_current_isr(motor_id);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mcc_current_isr: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curr_sense.read();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feedback.update();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foc_core_run();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bsp_pwm_set_voltage();</a:t>
            </a:r>
            <a:endParaRPr lang="en-US" sz="840" dirty="0"/>
          </a:p>
        </p:txBody>
      </p:sp>
      <p:sp>
        <p:nvSpPr>
          <p:cNvPr id="47" name="Shape 43"/>
          <p:cNvSpPr/>
          <p:nvPr/>
        </p:nvSpPr>
        <p:spPr>
          <a:xfrm>
            <a:off x="6172200" y="365760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6172200" y="3657600"/>
            <a:ext cx="73152" cy="160020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373368" y="3803904"/>
            <a:ext cx="44439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实时性要求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6373368" y="4160520"/>
            <a:ext cx="4443984" cy="9966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整段必须在一个 PWM 周期内完成。编码器 SPI/DMA 中断优先级低于电流环，轮询间隔被挤压有抖动是正常现象。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定点与归一化约定：读代码前必须统一单位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电压全链路归一化，PI 增益为 Q12 定点，不要直接按物理单位理解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664208"/>
            <a:ext cx="1347826" cy="54102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173736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16506" y="1664208"/>
            <a:ext cx="2144268" cy="54102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89658" y="173736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代码约定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60774" y="1664208"/>
            <a:ext cx="2634386" cy="54102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3926" y="173736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工程解释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68680" y="2205228"/>
            <a:ext cx="134782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41832" y="227838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2216506" y="2205228"/>
            <a:ext cx="2144268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89658" y="227838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FOC_V_FULLSCALE = 32767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4360774" y="2205228"/>
            <a:ext cx="263438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3926" y="227838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对应母线/√3；SVPWM 输出受调制比限制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868680" y="2746248"/>
            <a:ext cx="1347826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41832" y="281940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母线换算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2216506" y="2746248"/>
            <a:ext cx="2144268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289658" y="281940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FOC_V_BUS_NORM = 56755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4360774" y="2746248"/>
            <a:ext cx="2634386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33926" y="281940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V_mV = V_norm × bus_mV / 56755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868680" y="3287268"/>
            <a:ext cx="134782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832" y="336042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PI增益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2216506" y="3287268"/>
            <a:ext cx="2144268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289658" y="336042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PI_GAIN_SHIFT = 12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4360774" y="3287268"/>
            <a:ext cx="263438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33926" y="336042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kp_real = kp / 4096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868680" y="3828288"/>
            <a:ext cx="1347826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41832" y="390144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 err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2216506" y="3828288"/>
            <a:ext cx="2144268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289658" y="390144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 mA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4360774" y="3828288"/>
            <a:ext cx="2634386" cy="54102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433926" y="390144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数值大，增益上限要防溢出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868680" y="4369308"/>
            <a:ext cx="134782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41832" y="4442460"/>
            <a:ext cx="120152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 err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2216506" y="4369308"/>
            <a:ext cx="2144268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289658" y="4442460"/>
            <a:ext cx="1997964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 rpm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4360774" y="4369308"/>
            <a:ext cx="2634386" cy="54102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33926" y="4442460"/>
            <a:ext cx="2488082" cy="4312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不能与电流环增益数值横向比较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7406640" y="169164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406640" y="1691640"/>
            <a:ext cx="73152" cy="123444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607808" y="1837944"/>
            <a:ext cx="3255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代码阅读提醒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7607808" y="2194560"/>
            <a:ext cx="3255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看到 Vq/Vd 不要直接理解为 mV；看到 kp/ki 也不要直接当浮点增益。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7406640" y="315468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406640" y="3154680"/>
            <a:ext cx="73152" cy="12344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607808" y="3300984"/>
            <a:ext cx="3255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常见误区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7607808" y="3657600"/>
            <a:ext cx="3255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电流环和速度环的 err 量纲差两个数量级，钳位上限与 PI 数值完全不可类比。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的四种内核模式：调试时先选对模式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mcc_dbg.mode 与内核模式不是一回事，现场调试尤其容易混淆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31520" y="1645920"/>
            <a:ext cx="1207008" cy="58521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1719072"/>
            <a:ext cx="1060704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内核模式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938528" y="1645920"/>
            <a:ext cx="2084832" cy="58521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0" y="1719072"/>
            <a:ext cx="1938528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用途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023360" y="1645920"/>
            <a:ext cx="2194560" cy="58521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96512" y="1719072"/>
            <a:ext cx="2048256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调试价值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31520" y="2231136"/>
            <a:ext cx="1207008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04672" y="2304288"/>
            <a:ext cx="1060704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STOP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1938528" y="2231136"/>
            <a:ext cx="208483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1680" y="2304288"/>
            <a:ext cx="1938528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停机，清 PI 状态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4023360" y="2231136"/>
            <a:ext cx="2194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096512" y="2304288"/>
            <a:ext cx="2048256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确认安全停机与状态机行为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731520" y="2816352"/>
            <a:ext cx="1207008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" y="2889504"/>
            <a:ext cx="1060704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1938528" y="2816352"/>
            <a:ext cx="2084832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011680" y="2889504"/>
            <a:ext cx="1938528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Vd/Vq 双开环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4023360" y="2816352"/>
            <a:ext cx="2194560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096512" y="2889504"/>
            <a:ext cx="2048256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查相序、方向、基础输出链路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731520" y="3401568"/>
            <a:ext cx="1207008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" y="3474720"/>
            <a:ext cx="1060704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CURRENT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1938528" y="3401568"/>
            <a:ext cx="208483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011680" y="3474720"/>
            <a:ext cx="1938528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Id/Iq 双闭环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4023360" y="3401568"/>
            <a:ext cx="219456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096512" y="3474720"/>
            <a:ext cx="2048256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速度环输出 Iq 时的常规运行模式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31520" y="3986784"/>
            <a:ext cx="1207008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04672" y="4059936"/>
            <a:ext cx="1060704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VQ_IDREG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1938528" y="3986784"/>
            <a:ext cx="2084832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011680" y="4059936"/>
            <a:ext cx="1938528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 开环 + Id 闭环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4023360" y="3986784"/>
            <a:ext cx="2194560" cy="58521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096512" y="4059936"/>
            <a:ext cx="2048256" cy="4754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偏角标定、基础运动调试主力模式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6492240" y="1645920"/>
            <a:ext cx="1585570" cy="48768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565392" y="171907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mcc_dbg.mode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8077810" y="1645920"/>
            <a:ext cx="3077870" cy="48768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150962" y="171907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492240" y="2133600"/>
            <a:ext cx="15855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565392" y="220675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8077810" y="2133600"/>
            <a:ext cx="30778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150962" y="220675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Vq开环 + Id闭环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6492240" y="2621280"/>
            <a:ext cx="1585570" cy="4876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565392" y="269443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10" dirty="0"/>
          </a:p>
        </p:txBody>
      </p:sp>
      <p:sp>
        <p:nvSpPr>
          <p:cNvPr id="52" name="Shape 48"/>
          <p:cNvSpPr/>
          <p:nvPr/>
        </p:nvSpPr>
        <p:spPr>
          <a:xfrm>
            <a:off x="8077810" y="2621280"/>
            <a:ext cx="3077870" cy="4876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150962" y="269443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Iq + Id 双闭环</a:t>
            </a:r>
            <a:endParaRPr lang="en-US" sz="910" dirty="0"/>
          </a:p>
        </p:txBody>
      </p:sp>
      <p:sp>
        <p:nvSpPr>
          <p:cNvPr id="54" name="Shape 50"/>
          <p:cNvSpPr/>
          <p:nvPr/>
        </p:nvSpPr>
        <p:spPr>
          <a:xfrm>
            <a:off x="6492240" y="3108960"/>
            <a:ext cx="15855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565392" y="318211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10" dirty="0"/>
          </a:p>
        </p:txBody>
      </p:sp>
      <p:sp>
        <p:nvSpPr>
          <p:cNvPr id="56" name="Shape 52"/>
          <p:cNvSpPr/>
          <p:nvPr/>
        </p:nvSpPr>
        <p:spPr>
          <a:xfrm>
            <a:off x="8077810" y="3108960"/>
            <a:ext cx="30778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150962" y="318211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双开环 Vq/Vd 直给</a:t>
            </a:r>
            <a:endParaRPr lang="en-US" sz="910" dirty="0"/>
          </a:p>
        </p:txBody>
      </p:sp>
      <p:sp>
        <p:nvSpPr>
          <p:cNvPr id="58" name="Shape 54"/>
          <p:cNvSpPr/>
          <p:nvPr/>
        </p:nvSpPr>
        <p:spPr>
          <a:xfrm>
            <a:off x="6492240" y="3596640"/>
            <a:ext cx="1585570" cy="4876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565392" y="366979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10" dirty="0"/>
          </a:p>
        </p:txBody>
      </p:sp>
      <p:sp>
        <p:nvSpPr>
          <p:cNvPr id="60" name="Shape 56"/>
          <p:cNvSpPr/>
          <p:nvPr/>
        </p:nvSpPr>
        <p:spPr>
          <a:xfrm>
            <a:off x="8077810" y="3596640"/>
            <a:ext cx="3077870" cy="4876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8150962" y="366979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</a:t>
            </a:r>
            <a:endParaRPr lang="en-US" sz="910" dirty="0"/>
          </a:p>
        </p:txBody>
      </p:sp>
      <p:sp>
        <p:nvSpPr>
          <p:cNvPr id="62" name="Shape 58"/>
          <p:cNvSpPr/>
          <p:nvPr/>
        </p:nvSpPr>
        <p:spPr>
          <a:xfrm>
            <a:off x="6492240" y="4084320"/>
            <a:ext cx="15855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565392" y="4157472"/>
            <a:ext cx="14392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10" dirty="0"/>
          </a:p>
        </p:txBody>
      </p:sp>
      <p:sp>
        <p:nvSpPr>
          <p:cNvPr id="64" name="Shape 60"/>
          <p:cNvSpPr/>
          <p:nvPr/>
        </p:nvSpPr>
        <p:spPr>
          <a:xfrm>
            <a:off x="8077810" y="4084320"/>
            <a:ext cx="3077870" cy="4876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8150962" y="4157472"/>
            <a:ext cx="2931566" cy="3779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参数自辨识，0→1 边沿触发</a:t>
            </a:r>
            <a:endParaRPr lang="en-US" sz="910" dirty="0"/>
          </a:p>
        </p:txBody>
      </p:sp>
      <p:sp>
        <p:nvSpPr>
          <p:cNvPr id="66" name="Shape 62"/>
          <p:cNvSpPr/>
          <p:nvPr/>
        </p:nvSpPr>
        <p:spPr>
          <a:xfrm>
            <a:off x="1828800" y="5074920"/>
            <a:ext cx="85953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828800" y="5074920"/>
            <a:ext cx="73152" cy="566928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2029968" y="5221224"/>
            <a:ext cx="8193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讲解提示</a:t>
            </a:r>
            <a:endParaRPr lang="en-US" sz="1400" dirty="0"/>
          </a:p>
        </p:txBody>
      </p:sp>
      <p:sp>
        <p:nvSpPr>
          <p:cNvPr id="69" name="Text 65"/>
          <p:cNvSpPr/>
          <p:nvPr/>
        </p:nvSpPr>
        <p:spPr>
          <a:xfrm>
            <a:off x="2029914" y="5477283"/>
            <a:ext cx="8193024" cy="28999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建议现场打开 mcc_dbg / foc_core_set_mode 相关代码，解释“调试门面”和“FOC内核模式”的对应关系。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硬货 ⑤：SVPWM 不是简单三相正弦输出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调制比、死区、采样窗口会直接决定电流环质量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286000" y="221742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977640" y="221742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669280" y="2217420"/>
            <a:ext cx="9144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1520" y="1600200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1764792"/>
            <a:ext cx="117957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Vα/Vβ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77824" y="2221992"/>
            <a:ext cx="121615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输出电压矢量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2423160" y="1600200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87752" y="1764792"/>
            <a:ext cx="117957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扇区判断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569464" y="2221992"/>
            <a:ext cx="121615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落在哪个 60° 区间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4114800" y="1600200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79392" y="1764792"/>
            <a:ext cx="117957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T1/T2/T0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261104" y="2221992"/>
            <a:ext cx="121615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分配相邻矢量时间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5806440" y="1600200"/>
            <a:ext cx="15087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71032" y="1764792"/>
            <a:ext cx="1179576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CCR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952744" y="2221992"/>
            <a:ext cx="1216152" cy="5212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写入三相占空比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7726680" y="16002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726680" y="1600200"/>
            <a:ext cx="73152" cy="12344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927848" y="1746504"/>
            <a:ext cx="30266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电压利用率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927848" y="2103120"/>
            <a:ext cx="30266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 的线性区本质上仍受电压圆限制；调制比过高会进入非线性区，电流环变差。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14400" y="3474720"/>
            <a:ext cx="2638958" cy="438912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87552" y="3547872"/>
            <a:ext cx="2492654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硬件/算法点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553358" y="3474720"/>
            <a:ext cx="7510882" cy="438912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26510" y="3547872"/>
            <a:ext cx="7364578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为什么会影响控制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914400" y="3913632"/>
            <a:ext cx="263895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87552" y="3986784"/>
            <a:ext cx="2492654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 Deadtime</a:t>
            </a:r>
            <a:endParaRPr lang="en-US" sz="910" dirty="0"/>
          </a:p>
        </p:txBody>
      </p:sp>
      <p:sp>
        <p:nvSpPr>
          <p:cNvPr id="37" name="Shape 33"/>
          <p:cNvSpPr/>
          <p:nvPr/>
        </p:nvSpPr>
        <p:spPr>
          <a:xfrm>
            <a:off x="3553358" y="3913632"/>
            <a:ext cx="751088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26510" y="3986784"/>
            <a:ext cx="7364578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带来等效电压误差，低速小电流时尤其明显</a:t>
            </a:r>
            <a:endParaRPr lang="en-US" sz="910" dirty="0"/>
          </a:p>
        </p:txBody>
      </p:sp>
      <p:sp>
        <p:nvSpPr>
          <p:cNvPr id="39" name="Shape 35"/>
          <p:cNvSpPr/>
          <p:nvPr/>
        </p:nvSpPr>
        <p:spPr>
          <a:xfrm>
            <a:off x="914400" y="4352544"/>
            <a:ext cx="2638958" cy="4389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87552" y="4425696"/>
            <a:ext cx="2492654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采样窗口</a:t>
            </a:r>
            <a:endParaRPr lang="en-US" sz="910" dirty="0"/>
          </a:p>
        </p:txBody>
      </p:sp>
      <p:sp>
        <p:nvSpPr>
          <p:cNvPr id="41" name="Shape 37"/>
          <p:cNvSpPr/>
          <p:nvPr/>
        </p:nvSpPr>
        <p:spPr>
          <a:xfrm>
            <a:off x="3553358" y="4352544"/>
            <a:ext cx="7510882" cy="4389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626510" y="4425696"/>
            <a:ext cx="7364578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电流必须在桥臂状态稳定区采样，避开开关边沿振铃</a:t>
            </a:r>
            <a:endParaRPr lang="en-US" sz="910" dirty="0"/>
          </a:p>
        </p:txBody>
      </p:sp>
      <p:sp>
        <p:nvSpPr>
          <p:cNvPr id="43" name="Shape 39"/>
          <p:cNvSpPr/>
          <p:nvPr/>
        </p:nvSpPr>
        <p:spPr>
          <a:xfrm>
            <a:off x="914400" y="4791456"/>
            <a:ext cx="263895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87552" y="4864608"/>
            <a:ext cx="2492654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调制比上限</a:t>
            </a:r>
            <a:endParaRPr lang="en-US" sz="910" dirty="0"/>
          </a:p>
        </p:txBody>
      </p:sp>
      <p:sp>
        <p:nvSpPr>
          <p:cNvPr id="45" name="Shape 41"/>
          <p:cNvSpPr/>
          <p:nvPr/>
        </p:nvSpPr>
        <p:spPr>
          <a:xfrm>
            <a:off x="3553358" y="4791456"/>
            <a:ext cx="751088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626510" y="4864608"/>
            <a:ext cx="7364578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保护电流环线性和采样窗口，不能只追求最高输出</a:t>
            </a:r>
            <a:endParaRPr lang="en-US" sz="910" dirty="0"/>
          </a:p>
        </p:txBody>
      </p:sp>
      <p:sp>
        <p:nvSpPr>
          <p:cNvPr id="47" name="Shape 43"/>
          <p:cNvSpPr/>
          <p:nvPr/>
        </p:nvSpPr>
        <p:spPr>
          <a:xfrm>
            <a:off x="914400" y="5230368"/>
            <a:ext cx="2638958" cy="4389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87552" y="5303520"/>
            <a:ext cx="2492654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三相相序</a:t>
            </a:r>
            <a:endParaRPr lang="en-US" sz="910" dirty="0"/>
          </a:p>
        </p:txBody>
      </p:sp>
      <p:sp>
        <p:nvSpPr>
          <p:cNvPr id="49" name="Shape 45"/>
          <p:cNvSpPr/>
          <p:nvPr/>
        </p:nvSpPr>
        <p:spPr>
          <a:xfrm>
            <a:off x="3553358" y="5230368"/>
            <a:ext cx="7510882" cy="4389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626510" y="5303520"/>
            <a:ext cx="7364578" cy="3291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SVPWM 输出相序与采样相序必须一一对应</a:t>
            </a:r>
            <a:endParaRPr lang="en-US" sz="9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电流环：输入输出、限幅与 PI 初值计算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不要凭感觉试参数，先用 R/L/Ts/母线算一个可解释的起点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77240" y="160020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1600200"/>
            <a:ext cx="73152" cy="137160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78408" y="1746504"/>
            <a:ext cx="2798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78408" y="2103120"/>
            <a:ext cx="2798064" cy="7680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Id_ref / Iq_ref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 / Iq 反馈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34840" y="160020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34840" y="1600200"/>
            <a:ext cx="73152" cy="137160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1746504"/>
            <a:ext cx="2798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36008" y="2103120"/>
            <a:ext cx="2798064" cy="7680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Vd / Vq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随后被电压矢量圆限幅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92440" y="1600200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92440" y="1600200"/>
            <a:ext cx="73152" cy="137160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93608" y="1746504"/>
            <a:ext cx="2798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约束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293608" y="2103120"/>
            <a:ext cx="2798064" cy="7680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v_max = FOC_V_FULLSCALE × 调制比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增益上限避免定点溢出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0120" y="3657600"/>
            <a:ext cx="4754880" cy="1463040"/>
          </a:xfrm>
          <a:prstGeom prst="roundRect">
            <a:avLst>
              <a:gd name="adj" fmla="val 3750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69848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673352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276856" y="375818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926080" y="3739896"/>
            <a:ext cx="26517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 PI 计算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1179576" y="4069080"/>
            <a:ext cx="4315968" cy="9326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kp = L_µH × FOC_V_BUS_NORM × 2^12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/ (Ts_µs × bus_mV)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ki / kp = Ts / τ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τ = L / R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建议起点：deadbeat 的 25%~50%</a:t>
            </a:r>
            <a:endParaRPr lang="en-US" sz="840" dirty="0"/>
          </a:p>
        </p:txBody>
      </p:sp>
      <p:sp>
        <p:nvSpPr>
          <p:cNvPr id="30" name="Shape 26"/>
          <p:cNvSpPr/>
          <p:nvPr/>
        </p:nvSpPr>
        <p:spPr>
          <a:xfrm>
            <a:off x="6172200" y="3657600"/>
            <a:ext cx="4892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72200" y="3657600"/>
            <a:ext cx="73152" cy="14630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373368" y="3803904"/>
            <a:ext cx="448970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验证判据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373368" y="4160520"/>
            <a:ext cx="4489704" cy="8595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in_isr=1 录波看 Id/Iq 阶跃：无明显超调、上升时间达标、Vd/Vq 不长期触顶。若设值无效，先查是否被静默钳位。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速度环与保护：调稳态，不只看上升快不快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速度环调参优先级：稳定时间 &gt; 超调 &gt; 上升时间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45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64592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9222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速度环输入/输出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14884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speed_ref 与 speed_rpm；输出 Iq_ref 或 Vq_ref。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80560" y="1645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64592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179222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 是关键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214884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 = kp / (ki × 1000)。越障/爬坡的持续转矩靠积分项堆起来。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6459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38160" y="164592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39328" y="179222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保护要成组核对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339328" y="214884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最低转速、堵转阈值、限流、过温降额可能相互打架。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1051560" y="3794760"/>
            <a:ext cx="2790749" cy="42291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124712" y="3867912"/>
            <a:ext cx="2644445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整定纪律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842309" y="3794760"/>
            <a:ext cx="7176211" cy="42291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15461" y="3867912"/>
            <a:ext cx="7029907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1051560" y="4217670"/>
            <a:ext cx="2790749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24712" y="4290822"/>
            <a:ext cx="2644445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 kp 时 ki 同步跟随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3842309" y="4217670"/>
            <a:ext cx="7176211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15461" y="4290822"/>
            <a:ext cx="7029907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 Ti 恒定，避免把积分时间误认为比例增益效果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1051560" y="4640580"/>
            <a:ext cx="2790749" cy="42291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24712" y="4713732"/>
            <a:ext cx="2644445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振荡先分辨频率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3842309" y="4640580"/>
            <a:ext cx="7176211" cy="42291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915461" y="4713732"/>
            <a:ext cx="7029907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 kp 变是闭环自然频率，不随 kp 变多为机械模态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1051560" y="5063490"/>
            <a:ext cx="2790749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24712" y="5136642"/>
            <a:ext cx="2644445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台架只能粗调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3842309" y="5063490"/>
            <a:ext cx="7176211" cy="42291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915461" y="5136642"/>
            <a:ext cx="7029907" cy="31318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轮胎柔性和实地负载会改变速度环边界</a:t>
            </a:r>
            <a:endParaRPr lang="en-US" sz="9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代码运行框架和逻辑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从目录、任务、数据流三个角度建立工程地图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工程分层：算法库与硬件适配解耦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依赖方向严格自上而下，下层不得反向包含上层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1051560" y="150876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51560" y="1508760"/>
            <a:ext cx="91440" cy="50292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34440" y="1609344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manager</a:t>
            </a:r>
            <a:endParaRPr lang="en-US" sz="1020" dirty="0"/>
          </a:p>
        </p:txBody>
      </p:sp>
      <p:sp>
        <p:nvSpPr>
          <p:cNvPr id="15" name="Text 11"/>
          <p:cNvSpPr/>
          <p:nvPr/>
        </p:nvSpPr>
        <p:spPr>
          <a:xfrm>
            <a:off x="2743200" y="1609344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系统入口、初始化顺序、周期调度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051560" y="2221992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3FAF7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51560" y="2221992"/>
            <a:ext cx="91440" cy="50292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34440" y="2322576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application</a:t>
            </a:r>
            <a:endParaRPr lang="en-US" sz="1020" dirty="0"/>
          </a:p>
        </p:txBody>
      </p:sp>
      <p:sp>
        <p:nvSpPr>
          <p:cNvPr id="19" name="Text 15"/>
          <p:cNvSpPr/>
          <p:nvPr/>
        </p:nvSpPr>
        <p:spPr>
          <a:xfrm>
            <a:off x="2743200" y="2322576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motor_app / comm_app / safety_app / param_app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051560" y="2935224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51560" y="2935224"/>
            <a:ext cx="91440" cy="502920"/>
          </a:xfrm>
          <a:prstGeom prst="rect">
            <a:avLst/>
          </a:prstGeom>
          <a:solidFill>
            <a:srgbClr val="073D37"/>
          </a:solidFill>
          <a:ln w="12700">
            <a:solidFill>
              <a:srgbClr val="073D3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234440" y="3035808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middleware/lib</a:t>
            </a:r>
            <a:endParaRPr lang="en-US" sz="1020" dirty="0"/>
          </a:p>
        </p:txBody>
      </p:sp>
      <p:sp>
        <p:nvSpPr>
          <p:cNvPr id="23" name="Text 19"/>
          <p:cNvSpPr/>
          <p:nvPr/>
        </p:nvSpPr>
        <p:spPr>
          <a:xfrm>
            <a:off x="2743200" y="3035808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纯算法：foc / estimator / curr_sense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1051560" y="3648456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3FAF7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51560" y="3648456"/>
            <a:ext cx="91440" cy="50292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34440" y="3749040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middleware/user</a:t>
            </a:r>
            <a:endParaRPr lang="en-US" sz="1020" dirty="0"/>
          </a:p>
        </p:txBody>
      </p:sp>
      <p:sp>
        <p:nvSpPr>
          <p:cNvPr id="27" name="Text 23"/>
          <p:cNvSpPr/>
          <p:nvPr/>
        </p:nvSpPr>
        <p:spPr>
          <a:xfrm>
            <a:off x="2743200" y="3749040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器件适配：编码器、栅极驱动、温度传感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1051560" y="4361688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51560" y="4361688"/>
            <a:ext cx="91440" cy="50292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34440" y="4462272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</a:t>
            </a:r>
            <a:endParaRPr lang="en-US" sz="1020" dirty="0"/>
          </a:p>
        </p:txBody>
      </p:sp>
      <p:sp>
        <p:nvSpPr>
          <p:cNvPr id="31" name="Text 27"/>
          <p:cNvSpPr/>
          <p:nvPr/>
        </p:nvSpPr>
        <p:spPr>
          <a:xfrm>
            <a:off x="2743200" y="4462272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/ adc / can / uart / spi / flash / tim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1051560" y="507492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3FAF7"/>
          </a:solidFill>
          <a:ln w="12700">
            <a:solidFill>
              <a:srgbClr val="DDE9E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51560" y="5074920"/>
            <a:ext cx="91440" cy="502920"/>
          </a:xfrm>
          <a:prstGeom prst="rect">
            <a:avLst/>
          </a:prstGeom>
          <a:solidFill>
            <a:srgbClr val="073D37"/>
          </a:solidFill>
          <a:ln w="12700">
            <a:solidFill>
              <a:srgbClr val="073D3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234440" y="5175504"/>
            <a:ext cx="14173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 + sdk</a:t>
            </a:r>
            <a:endParaRPr lang="en-US" sz="1020" dirty="0"/>
          </a:p>
        </p:txBody>
      </p:sp>
      <p:sp>
        <p:nvSpPr>
          <p:cNvPr id="35" name="Text 31"/>
          <p:cNvSpPr/>
          <p:nvPr/>
        </p:nvSpPr>
        <p:spPr>
          <a:xfrm>
            <a:off x="2743200" y="5175504"/>
            <a:ext cx="26974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GD32 库、启动文件、OS、公共配置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26480" y="1828800"/>
            <a:ext cx="0" cy="329184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7" name="Text 33"/>
          <p:cNvSpPr/>
          <p:nvPr/>
        </p:nvSpPr>
        <p:spPr>
          <a:xfrm>
            <a:off x="5897880" y="5303520"/>
            <a:ext cx="59436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依赖方向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629400" y="1737360"/>
            <a:ext cx="4343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629400" y="173736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30568" y="1883664"/>
            <a:ext cx="3941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为什么这样分层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6830568" y="2240280"/>
            <a:ext cx="39410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换电机、换板卡、换 MCU 时，尽量只改参数、BSP、HAL，不动 application 与算法库。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629400" y="3246120"/>
            <a:ext cx="4343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629400" y="3246120"/>
            <a:ext cx="73152" cy="12344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830568" y="3392424"/>
            <a:ext cx="3941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验收标准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6830568" y="3749040"/>
            <a:ext cx="39410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 middleware/lib 因换板卡或换 MCU 而改动，说明抽象边界有漏洞。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运行时任务模型：快环不经 OS，慢环统一调度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电流环优先级最高，通信 ISR 只搬运不解析业务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91640"/>
            <a:ext cx="1689811" cy="53949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1764792"/>
            <a:ext cx="1543507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12771" y="1691640"/>
            <a:ext cx="2323490" cy="53949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85923" y="1764792"/>
            <a:ext cx="217718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836262" y="1691640"/>
            <a:ext cx="3907688" cy="53949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09414" y="1764792"/>
            <a:ext cx="3761384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主要内容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743950" y="1691640"/>
            <a:ext cx="2640330" cy="539496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17102" y="1764792"/>
            <a:ext cx="249402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注意点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22960" y="2231136"/>
            <a:ext cx="1689811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6112" y="2304288"/>
            <a:ext cx="1543507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kHz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2512771" y="2231136"/>
            <a:ext cx="232349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85923" y="2304288"/>
            <a:ext cx="217718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 ISR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4836262" y="2231136"/>
            <a:ext cx="3907688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09414" y="2304288"/>
            <a:ext cx="3761384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→ PWM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8743950" y="2231136"/>
            <a:ext cx="264033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817102" y="2304288"/>
            <a:ext cx="249402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电流快环，最高优先级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822960" y="2770632"/>
            <a:ext cx="1689811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96112" y="2843784"/>
            <a:ext cx="1543507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kHz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2512771" y="2770632"/>
            <a:ext cx="2323490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85923" y="2843784"/>
            <a:ext cx="217718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mcc_tick_1k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4836262" y="2770632"/>
            <a:ext cx="3907688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909414" y="2843784"/>
            <a:ext cx="3761384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状态机 / 速度环 / 保护 / 遥测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8743950" y="2770632"/>
            <a:ext cx="2640330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817102" y="2843784"/>
            <a:ext cx="249402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慢环主逻辑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822960" y="3310128"/>
            <a:ext cx="1689811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96112" y="3383280"/>
            <a:ext cx="1543507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kHz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2512771" y="3310128"/>
            <a:ext cx="232349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585923" y="3383280"/>
            <a:ext cx="217718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comm_poll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4836262" y="3310128"/>
            <a:ext cx="3907688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909414" y="3383280"/>
            <a:ext cx="3761384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收发队列 / 协议解析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8743950" y="3310128"/>
            <a:ext cx="2640330" cy="539496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817102" y="3383280"/>
            <a:ext cx="249402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ISR 入队，任务出队解析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822960" y="3849624"/>
            <a:ext cx="1689811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96112" y="3922776"/>
            <a:ext cx="1543507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10~50 ms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2512771" y="3849624"/>
            <a:ext cx="2323490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585923" y="3922776"/>
            <a:ext cx="217718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drive / safety / wdg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4836262" y="3849624"/>
            <a:ext cx="3907688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909414" y="3922776"/>
            <a:ext cx="3761384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安全、看门狗、低频任务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8743950" y="3849624"/>
            <a:ext cx="2640330" cy="539496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817102" y="3922776"/>
            <a:ext cx="2494026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系统维护任务</a:t>
            </a:r>
            <a:endParaRPr lang="en-US" sz="910" dirty="0"/>
          </a:p>
        </p:txBody>
      </p:sp>
      <p:sp>
        <p:nvSpPr>
          <p:cNvPr id="52" name="Shape 48"/>
          <p:cNvSpPr/>
          <p:nvPr/>
        </p:nvSpPr>
        <p:spPr>
          <a:xfrm>
            <a:off x="1051560" y="4709160"/>
            <a:ext cx="4389120" cy="1143000"/>
          </a:xfrm>
          <a:prstGeom prst="roundRect">
            <a:avLst>
              <a:gd name="adj" fmla="val 4800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161288" y="48097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764792" y="48097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2368296" y="48097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017520" y="4791456"/>
            <a:ext cx="22860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任务入口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271016" y="5120640"/>
            <a:ext cx="3950208" cy="61264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(1) {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scheduler_run();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1kHz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mcc_tick_1k();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comm_poll();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10kHz interrupt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mcc_current_isr(id);</a:t>
            </a:r>
            <a:endParaRPr lang="en-US" sz="840" dirty="0"/>
          </a:p>
        </p:txBody>
      </p:sp>
      <p:sp>
        <p:nvSpPr>
          <p:cNvPr id="58" name="Shape 54"/>
          <p:cNvSpPr/>
          <p:nvPr/>
        </p:nvSpPr>
        <p:spPr>
          <a:xfrm>
            <a:off x="5943600" y="4709160"/>
            <a:ext cx="50292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5943600" y="4709160"/>
            <a:ext cx="73152" cy="114300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144768" y="4855464"/>
            <a:ext cx="46268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现场讲解建议</a:t>
            </a:r>
            <a:endParaRPr lang="en-US" sz="1400" dirty="0"/>
          </a:p>
        </p:txBody>
      </p:sp>
      <p:sp>
        <p:nvSpPr>
          <p:cNvPr id="61" name="Text 57"/>
          <p:cNvSpPr/>
          <p:nvPr/>
        </p:nvSpPr>
        <p:spPr>
          <a:xfrm>
            <a:off x="6144768" y="5212080"/>
            <a:ext cx="4626864" cy="5394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scheduler / mcc_tick_1k / mcc_current_isr，先看频率与优先级，再看数据在哪里生产、在哪里消费。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从外部指令到 PWM：一条完整数据流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给定的产生与消费分处不同频率，中间靠 motor_t 传递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070463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83726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296989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910251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523514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10136777" y="244602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502920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 / UART ISR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224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收帧入队</a:t>
            </a:r>
            <a:endParaRPr lang="en-US" sz="860" dirty="0"/>
          </a:p>
        </p:txBody>
      </p:sp>
      <p:sp>
        <p:nvSpPr>
          <p:cNvPr id="21" name="Shape 17"/>
          <p:cNvSpPr/>
          <p:nvPr/>
        </p:nvSpPr>
        <p:spPr>
          <a:xfrm>
            <a:off x="2116183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280775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comm_poll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262487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1kHz 出队解析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3729446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894038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comm_svc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875750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mode_id / cmd</a:t>
            </a:r>
            <a:endParaRPr lang="en-US" sz="860" dirty="0"/>
          </a:p>
        </p:txBody>
      </p:sp>
      <p:sp>
        <p:nvSpPr>
          <p:cNvPr id="27" name="Shape 23"/>
          <p:cNvSpPr/>
          <p:nvPr/>
        </p:nvSpPr>
        <p:spPr>
          <a:xfrm>
            <a:off x="5342709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507301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mcc_set_*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9013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只改给定</a:t>
            </a:r>
            <a:endParaRPr lang="en-US" sz="860" dirty="0"/>
          </a:p>
        </p:txBody>
      </p:sp>
      <p:sp>
        <p:nvSpPr>
          <p:cNvPr id="30" name="Shape 26"/>
          <p:cNvSpPr/>
          <p:nvPr/>
        </p:nvSpPr>
        <p:spPr>
          <a:xfrm>
            <a:off x="6955971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20563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mcc_tick_1k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102275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速度环生成 Iq_ref</a:t>
            </a:r>
            <a:endParaRPr lang="en-US" sz="860" dirty="0"/>
          </a:p>
        </p:txBody>
      </p:sp>
      <p:sp>
        <p:nvSpPr>
          <p:cNvPr id="33" name="Shape 29"/>
          <p:cNvSpPr/>
          <p:nvPr/>
        </p:nvSpPr>
        <p:spPr>
          <a:xfrm>
            <a:off x="8569234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733826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mcc_current_isr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715538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10kHz 消费给定</a:t>
            </a:r>
            <a:endParaRPr lang="en-US" sz="860" dirty="0"/>
          </a:p>
        </p:txBody>
      </p:sp>
      <p:sp>
        <p:nvSpPr>
          <p:cNvPr id="36" name="Shape 32"/>
          <p:cNvSpPr/>
          <p:nvPr/>
        </p:nvSpPr>
        <p:spPr>
          <a:xfrm>
            <a:off x="10182497" y="187452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47089" y="2039112"/>
            <a:ext cx="1192639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10328801" y="2496312"/>
            <a:ext cx="1229215" cy="4297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CCR 输出</a:t>
            </a:r>
            <a:endParaRPr lang="en-US" sz="860" dirty="0"/>
          </a:p>
        </p:txBody>
      </p:sp>
      <p:sp>
        <p:nvSpPr>
          <p:cNvPr id="39" name="Shape 35"/>
          <p:cNvSpPr/>
          <p:nvPr/>
        </p:nvSpPr>
        <p:spPr>
          <a:xfrm>
            <a:off x="960120" y="37490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960120" y="3749040"/>
            <a:ext cx="73152" cy="141732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161288" y="389534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门面函数原则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1161288" y="4251960"/>
            <a:ext cx="2752344" cy="813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外部命令不直接驱动电机，只通过 mcc_set_speed_ref 等门面修改目标值。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4526280" y="37490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526280" y="3749040"/>
            <a:ext cx="73152" cy="141732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27448" y="389534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频率解耦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4727448" y="4251960"/>
            <a:ext cx="2752344" cy="813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通信/速度环 1kHz，FOC 快环 10kHz；motor_t 保存最新目标和状态。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8092440" y="37490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092440" y="3749040"/>
            <a:ext cx="73152" cy="141732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293608" y="389534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代码追踪路径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8293608" y="4251960"/>
            <a:ext cx="2752344" cy="8138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从协议解析开始，一路追到 foc_core_run 和 bsp_pwm_set_voltage。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motor_t：一台电机的完整上下文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双电机是 s_motors[MOTOR_COUNT] 数组，没有全局共享控制状态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77240" y="1600200"/>
            <a:ext cx="1024128" cy="667512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" y="1673352"/>
            <a:ext cx="877824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组成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01368" y="1600200"/>
            <a:ext cx="2688336" cy="667512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874520" y="1673352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包含内容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89704" y="1600200"/>
            <a:ext cx="2688336" cy="667512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62856" y="1673352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看代码时关注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7240" y="2267712"/>
            <a:ext cx="1024128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0392" y="2340864"/>
            <a:ext cx="877824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 p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1801368" y="2267712"/>
            <a:ext cx="2688336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74520" y="2340864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极对数、相序、偏角、方向、限流、PI、反馈源、减速比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4489704" y="2267712"/>
            <a:ext cx="2688336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62856" y="2340864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这些值来自 variant 还是 Flash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777240" y="2935224"/>
            <a:ext cx="1024128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0392" y="3008376"/>
            <a:ext cx="877824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控制器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1801368" y="2935224"/>
            <a:ext cx="2688336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874520" y="3008376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foc_core、pi_speed、pi_pos、ramp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4489704" y="2935224"/>
            <a:ext cx="2688336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62856" y="3008376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状态切换时是否清 PI / ramp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777240" y="3602736"/>
            <a:ext cx="1024128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0392" y="3675888"/>
            <a:ext cx="877824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接口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1801368" y="3602736"/>
            <a:ext cx="2688336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874520" y="3675888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feedback_t、curr_sense_t、gate_driver_t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4489704" y="3602736"/>
            <a:ext cx="2688336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62856" y="3675888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函数指针注入到算法库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77240" y="4270248"/>
            <a:ext cx="1024128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50392" y="4343400"/>
            <a:ext cx="877824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data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1801368" y="4270248"/>
            <a:ext cx="2688336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874520" y="4343400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角度、速度、电流、电压、温度、故障位、状态字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4489704" y="4270248"/>
            <a:ext cx="2688336" cy="667512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62856" y="4343400"/>
            <a:ext cx="2542032" cy="55778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调试与日志读取来源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7543800" y="17373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543800" y="173736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744968" y="1883664"/>
            <a:ext cx="31638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依赖注入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7744968" y="2240280"/>
            <a:ext cx="316382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lib 不访问寄存器，需要硬件数据时通过函数指针注入。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7543800" y="32461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653528" y="334670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257032" y="334670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860536" y="334670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509760" y="3328416"/>
            <a:ext cx="146304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组装根 mcc.c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7763256" y="3657600"/>
            <a:ext cx="3127248" cy="7955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fb_encoder_create(id, pole_pairs,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read_abs_angle);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fb_hall_create(id, pole_pairs,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read_hall);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lib 侧只见 feedback_t 接口</a:t>
            </a:r>
            <a:endParaRPr lang="en-US" sz="8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feedback_t 与 variant：可插拔反馈源 + 项目参数管理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型号差异进 variant，单台标定进 Flash，临时值走 cmd7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4592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64592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92224"/>
            <a:ext cx="2980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feedback_t 统一接口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42416" y="2148840"/>
            <a:ext cx="294436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update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get_angle / get_speed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get_count / ready / fault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34840" y="164592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34840" y="164592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36008" y="1792224"/>
            <a:ext cx="2980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三种反馈实现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54296" y="2148840"/>
            <a:ext cx="294436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fb_hall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fb_encoder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fb_sensorless(SMO)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46720" y="164592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46720" y="164592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47888" y="1792224"/>
            <a:ext cx="2980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选择机制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266176" y="2148840"/>
            <a:ext cx="2944368" cy="72237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FEAT_FB_*：是否编译进来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FB_SRC_*：这台电机用哪个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两者不要混用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0120" y="3794760"/>
            <a:ext cx="2212848" cy="41148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33272" y="3867912"/>
            <a:ext cx="2066544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参数来源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172968" y="3794760"/>
            <a:ext cx="3822192" cy="41148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46120" y="3867912"/>
            <a:ext cx="3675888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适用内容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995160" y="3794760"/>
            <a:ext cx="4023360" cy="41148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068312" y="3867912"/>
            <a:ext cx="3877056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原则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960120" y="4206240"/>
            <a:ext cx="2212848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33272" y="4279392"/>
            <a:ext cx="2066544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 / motor_config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3172968" y="4206240"/>
            <a:ext cx="382219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46120" y="4279392"/>
            <a:ext cx="3675888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型号级参数、板级配置、保护阈值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6995160" y="4206240"/>
            <a:ext cx="402336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068312" y="4279392"/>
            <a:ext cx="3877056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选中 variant 后默认块不参与编译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960120" y="4617720"/>
            <a:ext cx="2212848" cy="4114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3272" y="4690872"/>
            <a:ext cx="2066544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Flash 参数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3172968" y="4617720"/>
            <a:ext cx="3822192" cy="4114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46120" y="4690872"/>
            <a:ext cx="3675888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单台实测校准值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6995160" y="4617720"/>
            <a:ext cx="4023360" cy="41148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068312" y="4690872"/>
            <a:ext cx="3877056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如偏角、零点等，不替代型号参数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960120" y="5029200"/>
            <a:ext cx="2212848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033272" y="5102352"/>
            <a:ext cx="2066544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cmd7 / mcc_tune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3172968" y="5029200"/>
            <a:ext cx="3822192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246120" y="5102352"/>
            <a:ext cx="3675888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临时调试值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6995160" y="5029200"/>
            <a:ext cx="402336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068312" y="5102352"/>
            <a:ext cx="3877056" cy="3017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改完要读回确认在用值</a:t>
            </a:r>
            <a:endParaRPr lang="en-US" sz="9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调试设施：本工程最值钱的部分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mcc_dbg、mcc_tune、mcc_capture、enc_dbg 是现场调试主工具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002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60020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46504"/>
            <a:ext cx="2112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mcc_dbg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103120"/>
            <a:ext cx="2112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Keil Watch 直控：写 mode/value/value_d/enable 即可驱动电机。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11880" y="16002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11880" y="1600200"/>
            <a:ext cx="73152" cy="123444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13048" y="1746504"/>
            <a:ext cx="2112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mcc_tune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813048" y="2103120"/>
            <a:ext cx="2112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运行期改相序、偏角、方向、PI、限流等参数。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0" y="16002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0" y="160020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01968" y="1746504"/>
            <a:ext cx="2112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mcc_capture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601968" y="2103120"/>
            <a:ext cx="2112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两路信号同步采样 1000 点，导出 CSV 定量分析。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189720" y="160020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189720" y="1600200"/>
            <a:ext cx="73152" cy="12344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390888" y="1746504"/>
            <a:ext cx="16550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enc_dbg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9390888" y="2103120"/>
            <a:ext cx="16550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CRC、跳变、重同步等计数，故障后回溯。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960120" y="3657600"/>
            <a:ext cx="2424989" cy="3657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33272" y="3730752"/>
            <a:ext cx="2278685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录波选择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385109" y="3657600"/>
            <a:ext cx="7679131" cy="3657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58261" y="3730752"/>
            <a:ext cx="753282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应该怎么用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960120" y="4023360"/>
            <a:ext cx="242498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33272" y="4096512"/>
            <a:ext cx="2278685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调电流环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3385109" y="4023360"/>
            <a:ext cx="7679131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58261" y="4096512"/>
            <a:ext cx="753282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in_isr=1，单位 0.1ms，看 Iq/Id/Vq/Vd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960120" y="4389120"/>
            <a:ext cx="2424989" cy="3657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3272" y="4462272"/>
            <a:ext cx="2278685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调速度环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3385109" y="4389120"/>
            <a:ext cx="7679131" cy="3657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58261" y="4462272"/>
            <a:ext cx="753282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in_isr=0，单位 ms，看 speed_rpm + iq_ref/iq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960120" y="4754880"/>
            <a:ext cx="2424989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33272" y="4828032"/>
            <a:ext cx="2278685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固定一路录 STATE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3385109" y="4754880"/>
            <a:ext cx="7679131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458261" y="4828032"/>
            <a:ext cx="753282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区分“环路没工作”还是“根本没在 RUN”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960120" y="5120640"/>
            <a:ext cx="2424989" cy="3657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033272" y="5193792"/>
            <a:ext cx="2278685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触发方式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3385109" y="5120640"/>
            <a:ext cx="7679131" cy="3657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458261" y="5193792"/>
            <a:ext cx="7532827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阶跃用使能边沿或给定变化，避免人手对时间</a:t>
            </a:r>
            <a:endParaRPr lang="en-US" sz="9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新电机适配流程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不要一上来就调速度环，先确认电机本体与闭环链路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新电机适配总流程：七步法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每一步都有明确判据，判据不过不要进下一步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2024743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638006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251269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864531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477794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10091057" y="2400300"/>
            <a:ext cx="0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57200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6928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621792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收集参数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03504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 / R/L / Ke / 限流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2070463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180191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180191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2235055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低压上电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216767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确认基础链路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683726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793454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93454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848318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开环拖动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3830030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反馈方向 / 相序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296989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406717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406717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461581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偏角标定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5443293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mode=5 自辨识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910251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019979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019979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7074843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R/L + 电流环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7056555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 PI 并录波验证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8523514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633242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33242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8688106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8669818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台架粗调 / 落地终调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10136777" y="1828800"/>
            <a:ext cx="1521823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0246505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0246505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10301369" y="2331720"/>
            <a:ext cx="1192639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保护与交付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10283081" y="2633472"/>
            <a:ext cx="1229215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阈值 + 调试记录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914400" y="379476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914400" y="379476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1115568" y="3941064"/>
            <a:ext cx="27066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顺序原则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1115568" y="4297680"/>
            <a:ext cx="270662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硬件链路 → 角度 → 电流环 → 速度环。顺序反了，调参很容易白费。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4526280" y="379476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4526280" y="379476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727448" y="3941064"/>
            <a:ext cx="27066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判据原则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4727448" y="4297680"/>
            <a:ext cx="270662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每个参数都要能回答“这个值怎么来的”，不能只说是供应商给的。</a:t>
            </a:r>
            <a:endParaRPr lang="en-US" sz="1050" dirty="0"/>
          </a:p>
        </p:txBody>
      </p:sp>
      <p:sp>
        <p:nvSpPr>
          <p:cNvPr id="61" name="Shape 57"/>
          <p:cNvSpPr/>
          <p:nvPr/>
        </p:nvSpPr>
        <p:spPr>
          <a:xfrm>
            <a:off x="8138160" y="3794760"/>
            <a:ext cx="31089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8138160" y="379476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339328" y="3941064"/>
            <a:ext cx="27066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记录原则</a:t>
            </a:r>
            <a:endParaRPr lang="en-US" sz="1400" dirty="0"/>
          </a:p>
        </p:txBody>
      </p:sp>
      <p:sp>
        <p:nvSpPr>
          <p:cNvPr id="64" name="Text 60"/>
          <p:cNvSpPr/>
          <p:nvPr/>
        </p:nvSpPr>
        <p:spPr>
          <a:xfrm>
            <a:off x="8339328" y="4297680"/>
            <a:ext cx="270662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保留偏角、R/L、PI、阶跃波形、保护验证结果，形成可复用参数包。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电机参数怎么进入代码：参数决定控制边界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极对数、R/L、Ke、方向、反馈源和减速比都要有明确来源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77240" y="1600200"/>
            <a:ext cx="1135685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" y="167335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912925" y="1600200"/>
            <a:ext cx="2523744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986077" y="167335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进入代码的位置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436669" y="1600200"/>
            <a:ext cx="2649931" cy="5943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09821" y="167335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7240" y="2194560"/>
            <a:ext cx="1135685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0392" y="226771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1912925" y="2194560"/>
            <a:ext cx="252374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86077" y="226771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motor_config / variant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4436669" y="2194560"/>
            <a:ext cx="2649931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09821" y="226771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机械角↔电角、速度换算、反馈解析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777240" y="2788920"/>
            <a:ext cx="1135685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0392" y="286207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/ L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1912925" y="2788920"/>
            <a:ext cx="2523744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986077" y="286207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 PI 计算记录 / 参数文件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4436669" y="2788920"/>
            <a:ext cx="2649931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09821" y="286207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影响电流环带宽和稳定性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777240" y="3383280"/>
            <a:ext cx="1135685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0392" y="345643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1912925" y="3383280"/>
            <a:ext cx="252374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986077" y="345643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电压前馈 / 最高转速估算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4436669" y="3383280"/>
            <a:ext cx="2649931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09821" y="345643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影响高速电压裕量与反电动势判断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77240" y="3977640"/>
            <a:ext cx="1135685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50392" y="405079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减速比 / 轮径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1912925" y="3977640"/>
            <a:ext cx="2523744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986077" y="405079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整机与驱动板换算边界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4436669" y="3977640"/>
            <a:ext cx="2649931" cy="5943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09821" y="405079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主板与驱动板必须一致，否则直线跑偏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777240" y="4572000"/>
            <a:ext cx="1135685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50392" y="4645152"/>
            <a:ext cx="989381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 / 相序 / 偏角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1912925" y="4572000"/>
            <a:ext cx="2523744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986077" y="4645152"/>
            <a:ext cx="2377440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variant + Flash 标定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4436669" y="4572000"/>
            <a:ext cx="2649931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09821" y="4645152"/>
            <a:ext cx="2503627" cy="4846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决定转矩方向与换相角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7406640" y="169164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406640" y="1691640"/>
            <a:ext cx="73152" cy="123444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607808" y="1837944"/>
            <a:ext cx="3255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Hall 适配要点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7607808" y="2194560"/>
            <a:ext cx="3255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读正转 Hall 状态序列，选择 HALL_ORDER_IDX，再调 HALL_ANGLE_OFFSET。不能靠非法序报警判断相序是否正确。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7406640" y="3246120"/>
            <a:ext cx="3657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7406640" y="3246120"/>
            <a:ext cx="73152" cy="123444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607808" y="3392424"/>
            <a:ext cx="325526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编码器适配要点</a:t>
            </a:r>
            <a:endParaRPr lang="en-US" sz="1400" dirty="0"/>
          </a:p>
        </p:txBody>
      </p:sp>
      <p:sp>
        <p:nvSpPr>
          <p:cNvPr id="55" name="Text 51"/>
          <p:cNvSpPr/>
          <p:nvPr/>
        </p:nvSpPr>
        <p:spPr>
          <a:xfrm>
            <a:off x="7607808" y="3749040"/>
            <a:ext cx="3255264" cy="6309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先确认读数连续和 ENC_DIR，再标偏角。ENC_DIR 改了，偏角基准也变。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/ L 测准后再整定电流环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真实案例：电桥、自辨识、开环 Vd 阶跃给出的 L 可能差很多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645920"/>
            <a:ext cx="1448410" cy="62865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1719072"/>
            <a:ext cx="130210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测法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317090" y="1645920"/>
            <a:ext cx="1508760" cy="62865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390242" y="1719072"/>
            <a:ext cx="136245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结果倾向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825850" y="1645920"/>
            <a:ext cx="3077870" cy="62865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99002" y="1719072"/>
            <a:ext cx="293156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原因/结论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68680" y="2274570"/>
            <a:ext cx="144841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41832" y="2347722"/>
            <a:ext cx="130210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电桥 1kHz 小信号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2317090" y="2274570"/>
            <a:ext cx="150876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390242" y="2347722"/>
            <a:ext cx="136245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可能偏低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3825850" y="2274570"/>
            <a:ext cx="307787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99002" y="2347722"/>
            <a:ext cx="293156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小信号与实际 PWM 激励不一致，且相间散布会影响可信度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868680" y="2903220"/>
            <a:ext cx="1448410" cy="62865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41832" y="2976372"/>
            <a:ext cx="130210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自辨识方波差分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2317090" y="2903220"/>
            <a:ext cx="1508760" cy="62865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390242" y="2976372"/>
            <a:ext cx="136245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可能偏高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3825850" y="2903220"/>
            <a:ext cx="3077870" cy="62865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899002" y="2976372"/>
            <a:ext cx="293156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有效信号小，死区与采样滞后会压小 Δi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868680" y="3531870"/>
            <a:ext cx="144841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832" y="3605022"/>
            <a:ext cx="130210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开环 Vd 阶跃读 τ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2317090" y="3531870"/>
            <a:ext cx="150876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390242" y="3605022"/>
            <a:ext cx="136245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推荐采用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3825850" y="3531870"/>
            <a:ext cx="3077870" cy="62865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899002" y="3605022"/>
            <a:ext cx="2931566" cy="51892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 对死区相对免疫，闭环阶跃可反向复核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406640" y="1737360"/>
            <a:ext cx="3474720" cy="2331720"/>
          </a:xfrm>
          <a:prstGeom prst="roundRect">
            <a:avLst>
              <a:gd name="adj" fmla="val 2353"/>
            </a:avLst>
          </a:prstGeom>
          <a:solidFill>
            <a:srgbClr val="132024"/>
          </a:solidFill>
          <a:ln w="12700">
            <a:solidFill>
              <a:srgbClr val="13202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516368" y="18379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625E"/>
          </a:solidFill>
          <a:ln w="12700">
            <a:solidFill>
              <a:srgbClr val="FF625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19872" y="18379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723376" y="1837944"/>
            <a:ext cx="530352" cy="164592"/>
          </a:xfrm>
          <a:prstGeom prst="roundRect">
            <a:avLst>
              <a:gd name="adj" fmla="val 22222"/>
            </a:avLst>
          </a:prstGeom>
          <a:solidFill>
            <a:srgbClr val="28CA42"/>
          </a:solidFill>
          <a:ln w="12700">
            <a:solidFill>
              <a:srgbClr val="28CA42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372600" y="1819656"/>
            <a:ext cx="13716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AFC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阶跃法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7626096" y="2148840"/>
            <a:ext cx="3035808" cy="1801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 = 3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Vq = 0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Vd = 2000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录波：in_isr=1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ch0 = Id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ch1 = Vd</a:t>
            </a:r>
            <a:endParaRPr lang="en-US" sz="840" dirty="0"/>
          </a:p>
          <a:p>
            <a:pPr marL="0" indent="0">
              <a:buNone/>
            </a:pP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63.2% 时间 = τ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DDEBE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 = τ × R</a:t>
            </a:r>
            <a:endParaRPr lang="en-US" sz="840" dirty="0"/>
          </a:p>
        </p:txBody>
      </p:sp>
      <p:sp>
        <p:nvSpPr>
          <p:cNvPr id="42" name="Shape 38"/>
          <p:cNvSpPr/>
          <p:nvPr/>
        </p:nvSpPr>
        <p:spPr>
          <a:xfrm>
            <a:off x="1051560" y="4572000"/>
            <a:ext cx="9784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51560" y="4572000"/>
            <a:ext cx="73152" cy="77724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252728" y="4718304"/>
            <a:ext cx="9381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电流环验证判据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1252728" y="5074920"/>
            <a:ext cx="9381744" cy="1737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按计算得到的 PI 起点做阶跃录波，要求无明显超调、上升时间达标、Vd/Vq 不长期触顶；若“设了没反应”，先查增益钳位。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安装偏角标定与交付清单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极对电机偏角误差会被放大，必须逐台标定并记录重复性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6002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160020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69848" y="174650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DC 对齐法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69848" y="2103120"/>
            <a:ext cx="27523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把电角度锁在 0，注入 Vd 把转子拖到 d 轴，稳定后读传感器角度，偏角 = −该角度。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80560" y="16002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60020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174650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注入电流要足够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2103120"/>
            <a:ext cx="27523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电流太小，齿槽/摩擦占比大，转子停不到真实平衡点，标定散布会变大。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092440" y="16002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92440" y="160020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93608" y="1746504"/>
            <a:ext cx="2752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重复性是判据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293608" y="2103120"/>
            <a:ext cx="275234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运转前后各测一次；差值超基线，优先怀疑磁铁/编码器安装或结构松动。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0120" y="3703320"/>
            <a:ext cx="2011680" cy="384048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33272" y="3776472"/>
            <a:ext cx="186537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交付项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971800" y="3703320"/>
            <a:ext cx="8046720" cy="384048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044952" y="3776472"/>
            <a:ext cx="790041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必须包含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60120" y="4087368"/>
            <a:ext cx="20116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33272" y="4160520"/>
            <a:ext cx="186537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参数文件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2971800" y="4087368"/>
            <a:ext cx="8046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044952" y="4160520"/>
            <a:ext cx="790041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极对数、相序、偏角、方向、R/L/Ke、PI、限流、保护阈值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960120" y="4471416"/>
            <a:ext cx="2011680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33272" y="4544568"/>
            <a:ext cx="186537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调试记录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2971800" y="4471416"/>
            <a:ext cx="8046720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044952" y="4544568"/>
            <a:ext cx="790041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偏角标定方法与重复性、R/L 测量方法、阶跃波形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960120" y="4855464"/>
            <a:ext cx="20116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3272" y="4928616"/>
            <a:ext cx="186537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安全验证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2971800" y="4855464"/>
            <a:ext cx="80467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044952" y="4928616"/>
            <a:ext cx="790041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过流、堵转、过温、欠压、通信丢失、反馈故障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960120" y="5239512"/>
            <a:ext cx="2011680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33272" y="5312664"/>
            <a:ext cx="186537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边界验证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2971800" y="5239512"/>
            <a:ext cx="8046720" cy="384048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044952" y="5312664"/>
            <a:ext cx="7900416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最低稳定转速、最高转速、零速驻坡、正反转对称性</a:t>
            </a:r>
            <a:endParaRPr lang="en-US" sz="9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板卡移植流程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板卡变化优先改 BSP 与 board_cfg，不让 application 感知硬件细节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板卡移植改动边界：哪些该改，哪些不该改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改到 application / middleware/lib，通常说明硬件抽象漏了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31520" y="1600200"/>
            <a:ext cx="51663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1600200"/>
            <a:ext cx="73152" cy="425196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32688" y="1746504"/>
            <a:ext cx="4764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要改的层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50976" y="2103120"/>
            <a:ext cx="4727448" cy="36484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board_cfg.h：引脚、ADC通道、采样标度、定时器、通信外设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bsp/pwm：互补输出、死区、ADC触发点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bsp/adc：注入/规则组、触发源、DMA、零点校准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bsp/can·uart·spi·flash：外设与器件适配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63640" y="1600200"/>
            <a:ext cx="51663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600200"/>
            <a:ext cx="73152" cy="425196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64808" y="1746504"/>
            <a:ext cx="476402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不该改的层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83096" y="2103120"/>
            <a:ext cx="4727448" cy="364845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application：业务逻辑应保持不感知具体板卡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middleware/lib：FOC、PI、反馈估算等纯算法不碰寄存器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参数机制：继续通过 variant / Flash / tune 组织</a:t>
            </a:r>
            <a:endParaRPr lang="en-US" sz="1050" dirty="0"/>
          </a:p>
          <a:p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门面 API：对上接口保持稳定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/ ADC / 电流采样核查：板卡 bring-up 的核心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先确认硬件链路正确，再接电机做开环拖动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600200"/>
            <a:ext cx="1892808" cy="5562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" y="167335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核查项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15768" y="1600200"/>
            <a:ext cx="4626864" cy="5562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88920" y="167335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具体动作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42632" y="1600200"/>
            <a:ext cx="3995928" cy="55626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15784" y="167335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不过关的典型表现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" y="2156460"/>
            <a:ext cx="189280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96112" y="222961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2715768" y="2156460"/>
            <a:ext cx="4626864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788920" y="222961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示波器看互补输出、死区、MOE、通道使能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7342632" y="2156460"/>
            <a:ext cx="399592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15784" y="222961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无输出、上下桥风险、占空比异常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822960" y="2712720"/>
            <a:ext cx="1892808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96112" y="278587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ADC触发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2715768" y="2712720"/>
            <a:ext cx="4626864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88920" y="278587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确认采样点落在下桥导通稳定窗口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7342632" y="2712720"/>
            <a:ext cx="3995928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15784" y="278587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电流噪声大、电流环发散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822960" y="3268980"/>
            <a:ext cx="189280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96112" y="334213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相序对应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2715768" y="3268980"/>
            <a:ext cx="4626864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788920" y="334213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U/V/W 与 ia/ib/ic 一一对应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7342632" y="3268980"/>
            <a:ext cx="399592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415784" y="334213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相序/角度看似对，闭环仍没力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822960" y="3825240"/>
            <a:ext cx="1892808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96112" y="389839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采样零点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2715768" y="3825240"/>
            <a:ext cx="4626864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2788920" y="389839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上电校准范围、零偏稳定性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7342632" y="3825240"/>
            <a:ext cx="3995928" cy="55626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415784" y="389839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零转矩有电流、温漂导致偏置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822960" y="4381500"/>
            <a:ext cx="189280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96112" y="4454652"/>
            <a:ext cx="174650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保护输入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2715768" y="4381500"/>
            <a:ext cx="4626864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2788920" y="4454652"/>
            <a:ext cx="4480560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OCP/BKIN、VM_EN、故障极性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7342632" y="4381500"/>
            <a:ext cx="3995928" cy="55626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415784" y="4454652"/>
            <a:ext cx="3849624" cy="4465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误保护或异常不保护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1051560" y="5257800"/>
            <a:ext cx="10012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051560" y="5257800"/>
            <a:ext cx="73152" cy="566928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1252728" y="5404104"/>
            <a:ext cx="96103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关键纪律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1252728" y="5724144"/>
            <a:ext cx="9610344" cy="365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接电机前先低压限流，示波器确认 PWM 波形和 ADC 采样时刻；不要跳过基础链路直接调闭环。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通信、参数存储与板卡 bring-up 顺序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中断里只做搬运，协议解析和业务处理一律放到任务里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55448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通信移植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 波特率、过滤器、FIFO 中断；UART DMA/中断接收、帧格式、调试口复用。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805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55448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Flash / 参数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页大小、擦写地址、参数块 CRC、版本兼容；参数区不要覆盖代码或校准区。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38160" y="155448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393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Watchdog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3393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喂狗周期、调试冻结、异常复位策略；避免调试时被误复位。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810866" y="4709160"/>
            <a:ext cx="10972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4954219" y="4709160"/>
            <a:ext cx="10972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7097573" y="4709160"/>
            <a:ext cx="10972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9240926" y="4709160"/>
            <a:ext cx="10972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822960" y="4114800"/>
            <a:ext cx="194218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32688" y="4242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32688" y="4306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987552" y="4617720"/>
            <a:ext cx="161300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不接电机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69264" y="4919472"/>
            <a:ext cx="1649578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时钟/串口/CAN/Flash/WDG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2966314" y="4114800"/>
            <a:ext cx="194218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076042" y="4242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076042" y="4306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130906" y="4617720"/>
            <a:ext cx="161300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只上逻辑电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112618" y="4919472"/>
            <a:ext cx="1649578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母线/温度/相电流零点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5109667" y="4114800"/>
            <a:ext cx="194218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219395" y="4242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219395" y="4306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274259" y="4617720"/>
            <a:ext cx="161300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低压功率电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255971" y="4919472"/>
            <a:ext cx="1649578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与采样点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7253021" y="4114800"/>
            <a:ext cx="194218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62749" y="4242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362749" y="4306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7417613" y="4617720"/>
            <a:ext cx="161300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接电机开环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7399325" y="4919472"/>
            <a:ext cx="1649578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相序与方向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9396374" y="4114800"/>
            <a:ext cx="194218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506102" y="4242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506102" y="4306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9560966" y="4617720"/>
            <a:ext cx="1613002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闭环与保护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9542678" y="4919472"/>
            <a:ext cx="1649578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电流环/速度环/保护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Shape 1"/>
          <p:cNvSpPr/>
          <p:nvPr/>
        </p:nvSpPr>
        <p:spPr>
          <a:xfrm>
            <a:off x="91440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2221992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17320" y="2057400"/>
            <a:ext cx="896112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更换 MCU 移植流程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44752" y="2788920"/>
            <a:ext cx="7589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核心目标：保住 application 与 middleware/lib，只替换硬件适配层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14400" y="3337560"/>
            <a:ext cx="4754880" cy="0"/>
          </a:xfrm>
          <a:prstGeom prst="line">
            <a:avLst/>
          </a:prstGeom>
          <a:noFill/>
          <a:ln w="25400">
            <a:solidFill>
              <a:srgbClr val="1D6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789920" y="6172200"/>
            <a:ext cx="5486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MCU 移植的分层策略：HAL+BSP 替换，对上 API 稳定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芯片换了，但算法与业务逻辑尽量不动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650" dirty="0"/>
          </a:p>
        </p:txBody>
      </p:sp>
      <p:pic>
        <p:nvPicPr>
          <p:cNvPr id="12" name="Image 2" descr="/mnt/data/motor_media/image9.png"/>
          <p:cNvPicPr>
            <a:picLocks noChangeAspect="1"/>
          </p:cNvPicPr>
          <p:nvPr/>
        </p:nvPicPr>
        <p:blipFill>
          <a:blip r:embed="rId3"/>
          <a:srcRect t="876" b="876"/>
          <a:stretch>
            <a:fillRect/>
          </a:stretch>
        </p:blipFill>
        <p:spPr>
          <a:xfrm>
            <a:off x="731520" y="1554480"/>
            <a:ext cx="3886200" cy="21488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83480" y="1600200"/>
            <a:ext cx="1565910" cy="51054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56632" y="167335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层级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549390" y="1600200"/>
            <a:ext cx="4697730" cy="51054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22542" y="167335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移植动作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983480" y="2110740"/>
            <a:ext cx="156591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056632" y="218389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</a:t>
            </a:r>
            <a:endParaRPr lang="en-US" sz="910" dirty="0"/>
          </a:p>
        </p:txBody>
      </p:sp>
      <p:sp>
        <p:nvSpPr>
          <p:cNvPr id="19" name="Shape 14"/>
          <p:cNvSpPr/>
          <p:nvPr/>
        </p:nvSpPr>
        <p:spPr>
          <a:xfrm>
            <a:off x="6549390" y="2110740"/>
            <a:ext cx="469773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22542" y="218389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换厂商库、CMSIS、启动文件、链接脚本</a:t>
            </a:r>
            <a:endParaRPr lang="en-US" sz="910" dirty="0"/>
          </a:p>
        </p:txBody>
      </p:sp>
      <p:sp>
        <p:nvSpPr>
          <p:cNvPr id="21" name="Shape 16"/>
          <p:cNvSpPr/>
          <p:nvPr/>
        </p:nvSpPr>
        <p:spPr>
          <a:xfrm>
            <a:off x="4983480" y="2621280"/>
            <a:ext cx="1565910" cy="51054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56632" y="269443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bsp</a:t>
            </a:r>
            <a:endParaRPr lang="en-US" sz="910" dirty="0"/>
          </a:p>
        </p:txBody>
      </p:sp>
      <p:sp>
        <p:nvSpPr>
          <p:cNvPr id="23" name="Shape 18"/>
          <p:cNvSpPr/>
          <p:nvPr/>
        </p:nvSpPr>
        <p:spPr>
          <a:xfrm>
            <a:off x="6549390" y="2621280"/>
            <a:ext cx="4697730" cy="51054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622542" y="269443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重写外设初始化与寄存器访问，对上 API 保持不变</a:t>
            </a:r>
            <a:endParaRPr lang="en-US" sz="910" dirty="0"/>
          </a:p>
        </p:txBody>
      </p:sp>
      <p:sp>
        <p:nvSpPr>
          <p:cNvPr id="25" name="Shape 20"/>
          <p:cNvSpPr/>
          <p:nvPr/>
        </p:nvSpPr>
        <p:spPr>
          <a:xfrm>
            <a:off x="4983480" y="3131820"/>
            <a:ext cx="156591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056632" y="320497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config/board_cfg</a:t>
            </a:r>
            <a:endParaRPr lang="en-US" sz="910" dirty="0"/>
          </a:p>
        </p:txBody>
      </p:sp>
      <p:sp>
        <p:nvSpPr>
          <p:cNvPr id="27" name="Shape 22"/>
          <p:cNvSpPr/>
          <p:nvPr/>
        </p:nvSpPr>
        <p:spPr>
          <a:xfrm>
            <a:off x="6549390" y="3131820"/>
            <a:ext cx="469773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22542" y="320497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重定义引脚、通道、定时器、DMA、时钟</a:t>
            </a:r>
            <a:endParaRPr lang="en-US" sz="910" dirty="0"/>
          </a:p>
        </p:txBody>
      </p:sp>
      <p:sp>
        <p:nvSpPr>
          <p:cNvPr id="29" name="Shape 24"/>
          <p:cNvSpPr/>
          <p:nvPr/>
        </p:nvSpPr>
        <p:spPr>
          <a:xfrm>
            <a:off x="4983480" y="3642360"/>
            <a:ext cx="1565910" cy="51054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056632" y="371551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application</a:t>
            </a:r>
            <a:endParaRPr lang="en-US" sz="910" dirty="0"/>
          </a:p>
        </p:txBody>
      </p:sp>
      <p:sp>
        <p:nvSpPr>
          <p:cNvPr id="31" name="Shape 26"/>
          <p:cNvSpPr/>
          <p:nvPr/>
        </p:nvSpPr>
        <p:spPr>
          <a:xfrm>
            <a:off x="6549390" y="3642360"/>
            <a:ext cx="4697730" cy="51054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2542" y="371551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只处理资源能力变化带来的行为差异</a:t>
            </a:r>
            <a:endParaRPr lang="en-US" sz="910" dirty="0"/>
          </a:p>
        </p:txBody>
      </p:sp>
      <p:sp>
        <p:nvSpPr>
          <p:cNvPr id="33" name="Shape 28"/>
          <p:cNvSpPr/>
          <p:nvPr/>
        </p:nvSpPr>
        <p:spPr>
          <a:xfrm>
            <a:off x="4983480" y="4152900"/>
            <a:ext cx="156591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056632" y="4226052"/>
            <a:ext cx="141960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middleware/lib</a:t>
            </a:r>
            <a:endParaRPr lang="en-US" sz="910" dirty="0"/>
          </a:p>
        </p:txBody>
      </p:sp>
      <p:sp>
        <p:nvSpPr>
          <p:cNvPr id="35" name="Shape 30"/>
          <p:cNvSpPr/>
          <p:nvPr/>
        </p:nvSpPr>
        <p:spPr>
          <a:xfrm>
            <a:off x="6549390" y="4152900"/>
            <a:ext cx="4697730" cy="51054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22542" y="4226052"/>
            <a:ext cx="4551426" cy="4008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理论上零改动，这是分层设计的验收标准</a:t>
            </a:r>
            <a:endParaRPr lang="en-US" sz="910" dirty="0"/>
          </a:p>
        </p:txBody>
      </p:sp>
      <p:sp>
        <p:nvSpPr>
          <p:cNvPr id="37" name="Shape 32"/>
          <p:cNvSpPr/>
          <p:nvPr/>
        </p:nvSpPr>
        <p:spPr>
          <a:xfrm>
            <a:off x="1005840" y="429768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" y="4297680"/>
            <a:ext cx="73152" cy="105156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207008" y="4443984"/>
            <a:ext cx="29809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迁移原则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1207008" y="4800600"/>
            <a:ext cx="2980944" cy="4480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 lib 需要改，应该优先修抽象接口，而不是在算法库里写新 MCU 特判。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983480" y="4892040"/>
            <a:ext cx="62636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983480" y="4892040"/>
            <a:ext cx="73152" cy="6400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184648" y="5038344"/>
            <a:ext cx="586130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现场讲解建议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5184648" y="5394960"/>
            <a:ext cx="5861304" cy="365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对照当前工程目录，把 “HAL / BSP / config / application / lib” 的边界在代码树上现场标出来。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MCU 移植检查清单与验证顺序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最容易出错的是中断优先级、ADC触发语义、通信中断清除语义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777240" y="1600200"/>
            <a:ext cx="1261872" cy="53340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0392" y="16733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检查项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039112" y="1600200"/>
            <a:ext cx="3995928" cy="53340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12264" y="16733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77240" y="2133600"/>
            <a:ext cx="1261872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0392" y="22067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时钟树</a:t>
            </a:r>
            <a:endParaRPr lang="en-US" sz="910" dirty="0"/>
          </a:p>
        </p:txBody>
      </p:sp>
      <p:sp>
        <p:nvSpPr>
          <p:cNvPr id="18" name="Shape 14"/>
          <p:cNvSpPr/>
          <p:nvPr/>
        </p:nvSpPr>
        <p:spPr>
          <a:xfrm>
            <a:off x="2039112" y="2133600"/>
            <a:ext cx="399592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12264" y="22067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主频、APB分频、定时器倍频、ADC时钟、SysTick</a:t>
            </a:r>
            <a:endParaRPr lang="en-US" sz="910" dirty="0"/>
          </a:p>
        </p:txBody>
      </p:sp>
      <p:sp>
        <p:nvSpPr>
          <p:cNvPr id="20" name="Shape 16"/>
          <p:cNvSpPr/>
          <p:nvPr/>
        </p:nvSpPr>
        <p:spPr>
          <a:xfrm>
            <a:off x="777240" y="2667000"/>
            <a:ext cx="1261872" cy="53340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0392" y="27401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</a:t>
            </a:r>
            <a:endParaRPr lang="en-US" sz="910" dirty="0"/>
          </a:p>
        </p:txBody>
      </p:sp>
      <p:sp>
        <p:nvSpPr>
          <p:cNvPr id="22" name="Shape 18"/>
          <p:cNvSpPr/>
          <p:nvPr/>
        </p:nvSpPr>
        <p:spPr>
          <a:xfrm>
            <a:off x="2039112" y="2667000"/>
            <a:ext cx="3995928" cy="53340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112264" y="27401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高级定时器、互补输出、死区、刹车、中心对齐、触发ADC</a:t>
            </a:r>
            <a:endParaRPr lang="en-US" sz="910" dirty="0"/>
          </a:p>
        </p:txBody>
      </p:sp>
      <p:sp>
        <p:nvSpPr>
          <p:cNvPr id="24" name="Shape 20"/>
          <p:cNvSpPr/>
          <p:nvPr/>
        </p:nvSpPr>
        <p:spPr>
          <a:xfrm>
            <a:off x="777240" y="3200400"/>
            <a:ext cx="1261872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50392" y="32735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</a:t>
            </a:r>
            <a:endParaRPr lang="en-US" sz="910" dirty="0"/>
          </a:p>
        </p:txBody>
      </p:sp>
      <p:sp>
        <p:nvSpPr>
          <p:cNvPr id="26" name="Shape 22"/>
          <p:cNvSpPr/>
          <p:nvPr/>
        </p:nvSpPr>
        <p:spPr>
          <a:xfrm>
            <a:off x="2039112" y="3200400"/>
            <a:ext cx="399592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112264" y="32735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注入/规则组能力、触发源、采样时间、DMA、中断优先级</a:t>
            </a:r>
            <a:endParaRPr lang="en-US" sz="910" dirty="0"/>
          </a:p>
        </p:txBody>
      </p:sp>
      <p:sp>
        <p:nvSpPr>
          <p:cNvPr id="28" name="Shape 24"/>
          <p:cNvSpPr/>
          <p:nvPr/>
        </p:nvSpPr>
        <p:spPr>
          <a:xfrm>
            <a:off x="777240" y="3733800"/>
            <a:ext cx="1261872" cy="53340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50392" y="38069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2039112" y="3733800"/>
            <a:ext cx="3995928" cy="53340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112264" y="38069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CAN/UART/SPI FIFO、过滤器、中断清除语义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777240" y="4267200"/>
            <a:ext cx="1261872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50392" y="4340352"/>
            <a:ext cx="1115568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Flash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2039112" y="4267200"/>
            <a:ext cx="3995928" cy="53340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112264" y="4340352"/>
            <a:ext cx="3849624" cy="4236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页大小、擦写时序、读改写策略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7346290" y="2857500"/>
            <a:ext cx="1828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8355787" y="2857500"/>
            <a:ext cx="1828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9365285" y="2857500"/>
            <a:ext cx="1828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10374782" y="2857500"/>
            <a:ext cx="18288" cy="0"/>
          </a:xfrm>
          <a:prstGeom prst="line">
            <a:avLst/>
          </a:prstGeom>
          <a:noFill/>
          <a:ln w="13970">
            <a:solidFill>
              <a:srgbClr val="6E54B5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6400800" y="1828800"/>
            <a:ext cx="899770" cy="2057400"/>
          </a:xfrm>
          <a:prstGeom prst="roundRect">
            <a:avLst>
              <a:gd name="adj" fmla="val 7114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510528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510528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6565392" y="2331720"/>
            <a:ext cx="57058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547104" y="2633472"/>
            <a:ext cx="607162" cy="11612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宏/结构体/链接地址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7410298" y="1828800"/>
            <a:ext cx="899770" cy="2057400"/>
          </a:xfrm>
          <a:prstGeom prst="roundRect">
            <a:avLst>
              <a:gd name="adj" fmla="val 7114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520026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520026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7574890" y="2331720"/>
            <a:ext cx="57058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7556602" y="2633472"/>
            <a:ext cx="607162" cy="11612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时钟/GPIO/串口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8419795" y="1828800"/>
            <a:ext cx="899770" cy="2057400"/>
          </a:xfrm>
          <a:prstGeom prst="roundRect">
            <a:avLst>
              <a:gd name="adj" fmla="val 7114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529523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529523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8584387" y="2331720"/>
            <a:ext cx="57058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外设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8566099" y="2633472"/>
            <a:ext cx="607162" cy="11612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ADC/PWM/CAN/SPI/Flash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9429293" y="1828800"/>
            <a:ext cx="899770" cy="2057400"/>
          </a:xfrm>
          <a:prstGeom prst="roundRect">
            <a:avLst>
              <a:gd name="adj" fmla="val 7114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539021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539021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9593885" y="2331720"/>
            <a:ext cx="57058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</a:t>
            </a:r>
            <a:endParaRPr lang="en-US" sz="1050" dirty="0"/>
          </a:p>
        </p:txBody>
      </p:sp>
      <p:sp>
        <p:nvSpPr>
          <p:cNvPr id="59" name="Text 55"/>
          <p:cNvSpPr/>
          <p:nvPr/>
        </p:nvSpPr>
        <p:spPr>
          <a:xfrm>
            <a:off x="9575597" y="2633472"/>
            <a:ext cx="607162" cy="11612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开环→电流环→速度环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10438790" y="1828800"/>
            <a:ext cx="899770" cy="2057400"/>
          </a:xfrm>
          <a:prstGeom prst="roundRect">
            <a:avLst>
              <a:gd name="adj" fmla="val 7114"/>
            </a:avLst>
          </a:prstGeom>
          <a:solidFill>
            <a:srgbClr val="FFFFFF"/>
          </a:solidFill>
          <a:ln w="10160">
            <a:solidFill>
              <a:srgbClr val="DDE9E5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548518" y="1956816"/>
            <a:ext cx="292608" cy="292608"/>
          </a:xfrm>
          <a:prstGeom prst="ellipse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0548518" y="2020824"/>
            <a:ext cx="292608" cy="10972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750" dirty="0"/>
          </a:p>
        </p:txBody>
      </p:sp>
      <p:sp>
        <p:nvSpPr>
          <p:cNvPr id="63" name="Text 59"/>
          <p:cNvSpPr/>
          <p:nvPr/>
        </p:nvSpPr>
        <p:spPr>
          <a:xfrm>
            <a:off x="10603382" y="2331720"/>
            <a:ext cx="570586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压力</a:t>
            </a:r>
            <a:endParaRPr lang="en-US" sz="1050" dirty="0"/>
          </a:p>
        </p:txBody>
      </p:sp>
      <p:sp>
        <p:nvSpPr>
          <p:cNvPr id="64" name="Text 60"/>
          <p:cNvSpPr/>
          <p:nvPr/>
        </p:nvSpPr>
        <p:spPr>
          <a:xfrm>
            <a:off x="10585094" y="2633472"/>
            <a:ext cx="607162" cy="11612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通信负载/故障注入/长稳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492240" y="470916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492240" y="4709160"/>
            <a:ext cx="73152" cy="8686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693408" y="4855464"/>
            <a:ext cx="43525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实时性验收</a:t>
            </a:r>
            <a:endParaRPr lang="en-US" sz="1400" dirty="0"/>
          </a:p>
        </p:txBody>
      </p:sp>
      <p:sp>
        <p:nvSpPr>
          <p:cNvPr id="68" name="Text 64"/>
          <p:cNvSpPr/>
          <p:nvPr/>
        </p:nvSpPr>
        <p:spPr>
          <a:xfrm>
            <a:off x="6693408" y="5212080"/>
            <a:ext cx="4352544" cy="2651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CPU 占用率与 ISR 耗时插桩确认实时性没有退化；电流环中断必须最高。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实战陷阱：这些问题当时都“不报错”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培训最后建议结合真实代码与录波数据讲解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68680" y="15087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E8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051560" y="1801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51560" y="1874520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81912" y="1673352"/>
            <a:ext cx="38862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δ=90° 零转矩锁死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581912" y="1993392"/>
            <a:ext cx="38862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吃满电流、不转、无过流无堵转；Iq≈Vq/R 是识别线索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15087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3FAF7"/>
          </a:solidFill>
          <a:ln w="12700">
            <a:solidFill>
              <a:srgbClr val="DEE8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09360" y="180136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09360" y="1874520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839712" y="1673352"/>
            <a:ext cx="38862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静默钳位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839712" y="1993392"/>
            <a:ext cx="38862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设了大增益没反应，读回来仍是上限值；先查钳位再怀疑电机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68680" y="28346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E8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51560" y="31272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1560" y="3200400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581912" y="2999232"/>
            <a:ext cx="38862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ENC_DIR ≠ WHEEL_DIR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581912" y="3319272"/>
            <a:ext cx="38862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一个改换相角，一个只改外部方向约定；顺序错会卡死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126480" y="28346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3FAF7"/>
          </a:solidFill>
          <a:ln w="12700">
            <a:solidFill>
              <a:srgbClr val="DEE8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09360" y="31272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09360" y="3200400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39712" y="2999232"/>
            <a:ext cx="388620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抗饱和不可见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839712" y="3319272"/>
            <a:ext cx="388620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电压圆削掉输出，PI 内部不知道，会继续积分导致拖尾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868680" y="416052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EE8E5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51560" y="445312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51560" y="4526280"/>
            <a:ext cx="3840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581912" y="4325112"/>
            <a:ext cx="9326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扫描一次只动一个自由度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1581912" y="4645152"/>
            <a:ext cx="93268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 kp 时 ki 要跟随保持 Ti 恒定，否则结论作废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方法论与阅读路径：把“感觉”变成判据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用数据闭环收敛，而不是先猜原因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8229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1554480"/>
            <a:ext cx="73152" cy="1325880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241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找不依赖模型的量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241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例如 τ、Iq=Vq/R、频率是否随 kp 变化，用这些量先判断方向。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805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1554480"/>
            <a:ext cx="73152" cy="1325880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817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用同型对照缩小范围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817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同电机换反馈源、同板换电机、断电 vs 通电，快速定位边界。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5544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38160" y="1554480"/>
            <a:ext cx="73152" cy="1325880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39328" y="1700784"/>
            <a:ext cx="284378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让计数器回溯现场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339328" y="2057400"/>
            <a:ext cx="2843784" cy="72237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故障锁存后看当前状态没用，要看触发瞬间是哪条判据命中。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60120" y="3657600"/>
            <a:ext cx="3419856" cy="293914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33272" y="3730752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建议阅读文件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379976" y="3657600"/>
            <a:ext cx="6638544" cy="293914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453128" y="3730752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目的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60120" y="3951514"/>
            <a:ext cx="3419856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33272" y="4024666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doc/CODE_READING_GUIDE.md</a:t>
            </a:r>
            <a:endParaRPr lang="en-US" sz="910" dirty="0"/>
          </a:p>
        </p:txBody>
      </p:sp>
      <p:sp>
        <p:nvSpPr>
          <p:cNvPr id="30" name="Shape 26"/>
          <p:cNvSpPr/>
          <p:nvPr/>
        </p:nvSpPr>
        <p:spPr>
          <a:xfrm>
            <a:off x="4379976" y="3951514"/>
            <a:ext cx="6638544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453128" y="4024666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新人代码阅读入口</a:t>
            </a:r>
            <a:endParaRPr lang="en-US" sz="910" dirty="0"/>
          </a:p>
        </p:txBody>
      </p:sp>
      <p:sp>
        <p:nvSpPr>
          <p:cNvPr id="32" name="Shape 28"/>
          <p:cNvSpPr/>
          <p:nvPr/>
        </p:nvSpPr>
        <p:spPr>
          <a:xfrm>
            <a:off x="960120" y="4245429"/>
            <a:ext cx="3419856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33272" y="4318581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doc/ARCHITECTURE.md</a:t>
            </a:r>
            <a:endParaRPr lang="en-US" sz="910" dirty="0"/>
          </a:p>
        </p:txBody>
      </p:sp>
      <p:sp>
        <p:nvSpPr>
          <p:cNvPr id="34" name="Shape 30"/>
          <p:cNvSpPr/>
          <p:nvPr/>
        </p:nvSpPr>
        <p:spPr>
          <a:xfrm>
            <a:off x="4379976" y="4245429"/>
            <a:ext cx="6638544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453128" y="4318581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分层、调用关系、数据流</a:t>
            </a:r>
            <a:endParaRPr lang="en-US" sz="910" dirty="0"/>
          </a:p>
        </p:txBody>
      </p:sp>
      <p:sp>
        <p:nvSpPr>
          <p:cNvPr id="36" name="Shape 32"/>
          <p:cNvSpPr/>
          <p:nvPr/>
        </p:nvSpPr>
        <p:spPr>
          <a:xfrm>
            <a:off x="960120" y="4539343"/>
            <a:ext cx="3419856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33272" y="4612495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doc/BRINGUP_GUIDE.md</a:t>
            </a:r>
            <a:endParaRPr lang="en-US" sz="910" dirty="0"/>
          </a:p>
        </p:txBody>
      </p:sp>
      <p:sp>
        <p:nvSpPr>
          <p:cNvPr id="38" name="Shape 34"/>
          <p:cNvSpPr/>
          <p:nvPr/>
        </p:nvSpPr>
        <p:spPr>
          <a:xfrm>
            <a:off x="4379976" y="4539343"/>
            <a:ext cx="6638544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53128" y="4612495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上板调试与电机适配步骤</a:t>
            </a:r>
            <a:endParaRPr lang="en-US" sz="910" dirty="0"/>
          </a:p>
        </p:txBody>
      </p:sp>
      <p:sp>
        <p:nvSpPr>
          <p:cNvPr id="40" name="Shape 36"/>
          <p:cNvSpPr/>
          <p:nvPr/>
        </p:nvSpPr>
        <p:spPr>
          <a:xfrm>
            <a:off x="960120" y="4833257"/>
            <a:ext cx="3419856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033272" y="4906409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doc/CURRENT_PI_CALC_GUIDE.md</a:t>
            </a:r>
            <a:endParaRPr lang="en-US" sz="910" dirty="0"/>
          </a:p>
        </p:txBody>
      </p:sp>
      <p:sp>
        <p:nvSpPr>
          <p:cNvPr id="42" name="Shape 38"/>
          <p:cNvSpPr/>
          <p:nvPr/>
        </p:nvSpPr>
        <p:spPr>
          <a:xfrm>
            <a:off x="4379976" y="4833257"/>
            <a:ext cx="6638544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453128" y="4906409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电流环 PI 计算</a:t>
            </a:r>
            <a:endParaRPr lang="en-US" sz="910" dirty="0"/>
          </a:p>
        </p:txBody>
      </p:sp>
      <p:sp>
        <p:nvSpPr>
          <p:cNvPr id="44" name="Shape 40"/>
          <p:cNvSpPr/>
          <p:nvPr/>
        </p:nvSpPr>
        <p:spPr>
          <a:xfrm>
            <a:off x="960120" y="5127171"/>
            <a:ext cx="3419856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033272" y="5200323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doc/SPEED_PI_TUNE_GUIDE.md</a:t>
            </a:r>
            <a:endParaRPr lang="en-US" sz="910" dirty="0"/>
          </a:p>
        </p:txBody>
      </p:sp>
      <p:sp>
        <p:nvSpPr>
          <p:cNvPr id="46" name="Shape 42"/>
          <p:cNvSpPr/>
          <p:nvPr/>
        </p:nvSpPr>
        <p:spPr>
          <a:xfrm>
            <a:off x="4379976" y="5127171"/>
            <a:ext cx="6638544" cy="293914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453128" y="5200323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速度环整定</a:t>
            </a:r>
            <a:endParaRPr lang="en-US" sz="910" dirty="0"/>
          </a:p>
        </p:txBody>
      </p:sp>
      <p:sp>
        <p:nvSpPr>
          <p:cNvPr id="48" name="Shape 44"/>
          <p:cNvSpPr/>
          <p:nvPr/>
        </p:nvSpPr>
        <p:spPr>
          <a:xfrm>
            <a:off x="960120" y="5421086"/>
            <a:ext cx="3419856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1033272" y="5494238"/>
            <a:ext cx="3273552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doc/MOTOR_VARIANTS.md</a:t>
            </a:r>
            <a:endParaRPr lang="en-US" sz="910" dirty="0"/>
          </a:p>
        </p:txBody>
      </p:sp>
      <p:sp>
        <p:nvSpPr>
          <p:cNvPr id="50" name="Shape 46"/>
          <p:cNvSpPr/>
          <p:nvPr/>
        </p:nvSpPr>
        <p:spPr>
          <a:xfrm>
            <a:off x="4379976" y="5421086"/>
            <a:ext cx="6638544" cy="293914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453128" y="5494238"/>
            <a:ext cx="6492240" cy="18418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各配置组实测数据与取值由来</a:t>
            </a:r>
            <a:endParaRPr lang="en-US" sz="9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19456"/>
            <a:ext cx="1170432" cy="1920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875520" y="237744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Bot for the Easy Life</a:t>
            </a:r>
            <a:endParaRPr lang="en-US" sz="650" dirty="0"/>
          </a:p>
        </p:txBody>
      </p:sp>
      <p:sp>
        <p:nvSpPr>
          <p:cNvPr id="5" name="Text 1"/>
          <p:cNvSpPr/>
          <p:nvPr/>
        </p:nvSpPr>
        <p:spPr>
          <a:xfrm>
            <a:off x="502920" y="640080"/>
            <a:ext cx="9326880" cy="3108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总结：三句话带走本次培训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21208" y="1078992"/>
            <a:ext cx="74980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后续现场结合代码工程继续展开</a:t>
            </a:r>
            <a:endParaRPr lang="en-US" sz="820" dirty="0"/>
          </a:p>
        </p:txBody>
      </p:sp>
      <p:sp>
        <p:nvSpPr>
          <p:cNvPr id="7" name="Shape 3"/>
          <p:cNvSpPr/>
          <p:nvPr/>
        </p:nvSpPr>
        <p:spPr>
          <a:xfrm>
            <a:off x="502920" y="1280160"/>
            <a:ext cx="621792" cy="0"/>
          </a:xfrm>
          <a:prstGeom prst="line">
            <a:avLst/>
          </a:prstGeom>
          <a:noFill/>
          <a:ln w="17780">
            <a:solidFill>
              <a:srgbClr val="1D6B5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01400" y="758952"/>
            <a:ext cx="45720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02920" y="6327648"/>
            <a:ext cx="10698480" cy="0"/>
          </a:xfrm>
          <a:prstGeom prst="line">
            <a:avLst/>
          </a:prstGeom>
          <a:noFill/>
          <a:ln w="3810">
            <a:solidFill>
              <a:srgbClr val="D5DEE2">
                <a:alpha val="8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352" y="641908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foc_mower 代码工程培训｜LDROBOT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0972800" y="6419088"/>
            <a:ext cx="3200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5E6A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650" dirty="0"/>
          </a:p>
        </p:txBody>
      </p:sp>
      <p:pic>
        <p:nvPicPr>
          <p:cNvPr id="12" name="Image 2" descr="/mnt/data/motor_media/image10.png"/>
          <p:cNvPicPr>
            <a:picLocks noChangeAspect="1"/>
          </p:cNvPicPr>
          <p:nvPr/>
        </p:nvPicPr>
        <p:blipFill>
          <a:blip r:embed="rId3"/>
          <a:srcRect l="3953" r="3953"/>
          <a:stretch>
            <a:fillRect/>
          </a:stretch>
        </p:blipFill>
        <p:spPr>
          <a:xfrm>
            <a:off x="777240" y="1600200"/>
            <a:ext cx="3291840" cy="20116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80560" y="1600200"/>
            <a:ext cx="6355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480560" y="1600200"/>
            <a:ext cx="73152" cy="841248"/>
          </a:xfrm>
          <a:prstGeom prst="rect">
            <a:avLst/>
          </a:prstGeom>
          <a:solidFill>
            <a:srgbClr val="1D6B57"/>
          </a:solidFill>
          <a:ln w="12700">
            <a:solidFill>
              <a:srgbClr val="1D6B5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81728" y="1746504"/>
            <a:ext cx="5952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FOC 的本质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81728" y="2103120"/>
            <a:ext cx="5952744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用准确的角度和电流反馈，把三相电流控到 d/q 轴目标。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480560" y="2724912"/>
            <a:ext cx="6355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80560" y="2724912"/>
            <a:ext cx="73152" cy="841248"/>
          </a:xfrm>
          <a:prstGeom prst="rect">
            <a:avLst/>
          </a:prstGeom>
          <a:solidFill>
            <a:srgbClr val="6E54B5"/>
          </a:solidFill>
          <a:ln w="12700">
            <a:solidFill>
              <a:srgbClr val="6E54B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81728" y="2871216"/>
            <a:ext cx="5952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工程的价值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681728" y="3227832"/>
            <a:ext cx="5952744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 / 业务 / 硬件适配 / 项目参数四层解耦，便于复用和迁移。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480560" y="3849624"/>
            <a:ext cx="6355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7620">
            <a:solidFill>
              <a:srgbClr val="E3EB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80560" y="3849624"/>
            <a:ext cx="73152" cy="841248"/>
          </a:xfrm>
          <a:prstGeom prst="rect">
            <a:avLst/>
          </a:prstGeom>
          <a:solidFill>
            <a:srgbClr val="D95C4B"/>
          </a:solidFill>
          <a:ln w="12700">
            <a:solidFill>
              <a:srgbClr val="D95C4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81728" y="3995928"/>
            <a:ext cx="5952744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73D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调试的顺序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681728" y="4352544"/>
            <a:ext cx="5952744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硬件链路 → 角度 → 电流环 → 速度环；每个参数都要能说明来源。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005840" y="4069080"/>
            <a:ext cx="1102766" cy="35433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78992" y="4142232"/>
            <a:ext cx="956462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换什么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108606" y="4069080"/>
            <a:ext cx="1960474" cy="354330"/>
          </a:xfrm>
          <a:prstGeom prst="rect">
            <a:avLst/>
          </a:prstGeom>
          <a:solidFill>
            <a:srgbClr val="073D3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181758" y="4142232"/>
            <a:ext cx="1814170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主要改哪里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005840" y="4423410"/>
            <a:ext cx="1102766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78992" y="4496562"/>
            <a:ext cx="956462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新电机</a:t>
            </a:r>
            <a:endParaRPr lang="en-US" sz="910" dirty="0"/>
          </a:p>
        </p:txBody>
      </p:sp>
      <p:sp>
        <p:nvSpPr>
          <p:cNvPr id="31" name="Shape 26"/>
          <p:cNvSpPr/>
          <p:nvPr/>
        </p:nvSpPr>
        <p:spPr>
          <a:xfrm>
            <a:off x="2108606" y="4423410"/>
            <a:ext cx="1960474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181758" y="4496562"/>
            <a:ext cx="1814170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motor_config / variant / Flash 标定</a:t>
            </a:r>
            <a:endParaRPr lang="en-US" sz="910" dirty="0"/>
          </a:p>
        </p:txBody>
      </p:sp>
      <p:sp>
        <p:nvSpPr>
          <p:cNvPr id="33" name="Shape 28"/>
          <p:cNvSpPr/>
          <p:nvPr/>
        </p:nvSpPr>
        <p:spPr>
          <a:xfrm>
            <a:off x="1005840" y="4777740"/>
            <a:ext cx="1102766" cy="35433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78992" y="4850892"/>
            <a:ext cx="956462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新板卡</a:t>
            </a:r>
            <a:endParaRPr lang="en-US" sz="910" dirty="0"/>
          </a:p>
        </p:txBody>
      </p:sp>
      <p:sp>
        <p:nvSpPr>
          <p:cNvPr id="35" name="Shape 30"/>
          <p:cNvSpPr/>
          <p:nvPr/>
        </p:nvSpPr>
        <p:spPr>
          <a:xfrm>
            <a:off x="2108606" y="4777740"/>
            <a:ext cx="1960474" cy="354330"/>
          </a:xfrm>
          <a:prstGeom prst="rect">
            <a:avLst/>
          </a:prstGeom>
          <a:solidFill>
            <a:srgbClr val="F5FAF7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181758" y="4850892"/>
            <a:ext cx="1814170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board_cfg + bsp</a:t>
            </a:r>
            <a:endParaRPr lang="en-US" sz="910" dirty="0"/>
          </a:p>
        </p:txBody>
      </p:sp>
      <p:sp>
        <p:nvSpPr>
          <p:cNvPr id="37" name="Shape 32"/>
          <p:cNvSpPr/>
          <p:nvPr/>
        </p:nvSpPr>
        <p:spPr>
          <a:xfrm>
            <a:off x="1005840" y="5132070"/>
            <a:ext cx="1102766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78992" y="5205222"/>
            <a:ext cx="956462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 MCU</a:t>
            </a:r>
            <a:endParaRPr lang="en-US" sz="910" dirty="0"/>
          </a:p>
        </p:txBody>
      </p:sp>
      <p:sp>
        <p:nvSpPr>
          <p:cNvPr id="39" name="Shape 34"/>
          <p:cNvSpPr/>
          <p:nvPr/>
        </p:nvSpPr>
        <p:spPr>
          <a:xfrm>
            <a:off x="2108606" y="5132070"/>
            <a:ext cx="1960474" cy="354330"/>
          </a:xfrm>
          <a:prstGeom prst="rect">
            <a:avLst/>
          </a:prstGeom>
          <a:solidFill>
            <a:srgbClr val="FFFFFF"/>
          </a:solidFill>
          <a:ln w="5080">
            <a:solidFill>
              <a:srgbClr val="DDE7E3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181758" y="5205222"/>
            <a:ext cx="1814170" cy="24460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192A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hal + bsp，保持上层 API</a:t>
            </a:r>
            <a:endParaRPr lang="en-US" sz="9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nth_medi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anth_media/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41732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57800" y="2834640"/>
            <a:ext cx="164592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54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5440680" y="3337560"/>
            <a:ext cx="123444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D6B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Q&amp;A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13342</Words>
  <Application>WPS Office WWO_dingtalk_20240221035043-c523bba0e7</Application>
  <PresentationFormat>On-screen Show (16:9)</PresentationFormat>
  <Paragraphs>1890</Paragraphs>
  <Slides>43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汉仪旗黑KW 55S</vt:lpstr>
      <vt:lpstr>微软雅黑</vt:lpstr>
      <vt:lpstr>微软雅黑</vt:lpstr>
      <vt:lpstr>Consolas</vt:lpstr>
      <vt:lpstr>Consolas</vt:lpstr>
      <vt:lpstr>Consolas</vt:lpstr>
      <vt:lpstr>汉仪书宋二KW</vt:lpstr>
      <vt:lpstr>Kingsoft Confetti</vt:lpstr>
      <vt:lpstr>Liberation Sans Narrow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LDROBOT / ANTHBOT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foc_mower 代码工程培训</dc:title>
  <dc:creator>LDROBOT</dc:creator>
  <dc:subject>foc_mower 代码工程培训</dc:subject>
  <cp:lastModifiedBy>LDROBOT</cp:lastModifiedBy>
  <dcterms:created xsi:type="dcterms:W3CDTF">2026-08-11T01:37:22Z</dcterms:created>
  <dcterms:modified xsi:type="dcterms:W3CDTF">2026-08-11T01:37:22Z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